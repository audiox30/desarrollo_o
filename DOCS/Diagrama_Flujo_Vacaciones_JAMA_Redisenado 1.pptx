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source: Diagrama_Flujo_Solicitudes_Vacaciones_Grupo_JAMA.pptx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source: Diagrama_Flujo_Solicitudes_Vacaciones_Grupo_JAMA.pptx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source: Diagrama_Flujo_Solicitudes_Vacaciones_Grupo_JAMA.pptx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source: Diagrama_Flujo_Solicitudes_Vacaciones_Grupo_JAMA.pptx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source: Diagrama_Flujo_Solicitudes_Vacaciones_Grupo_JAMA.pptx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D62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8092440" y="0"/>
            <a:ext cx="4096512" cy="6858000"/>
          </a:xfrm>
          <a:prstGeom prst="rect">
            <a:avLst/>
          </a:prstGeom>
          <a:solidFill>
            <a:srgbClr val="073A73">
              <a:alpha val="90000"/>
            </a:srgbClr>
          </a:solidFill>
          <a:ln w="12700">
            <a:solidFill>
              <a:srgbClr val="073A7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200000">
            <a:off x="7406640" y="-457200"/>
            <a:ext cx="5212080" cy="5212080"/>
          </a:xfrm>
          <a:prstGeom prst="arc">
            <a:avLst/>
          </a:prstGeom>
          <a:solidFill>
            <a:srgbClr val="002D62">
              <a:alpha val="0"/>
            </a:srgbClr>
          </a:solidFill>
          <a:ln w="38100">
            <a:solidFill>
              <a:srgbClr val="5B8296">
                <a:alpha val="65000"/>
              </a:srgbClr>
            </a:solidFill>
            <a:prstDash val="solid"/>
          </a:ln>
        </p:spPr>
      </p:sp>
      <p:pic>
        <p:nvPicPr>
          <p:cNvPr id="4" name="Image 0" descr="/mnt/data/work_jama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25780"/>
            <a:ext cx="219456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1417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2B7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DESARROLLO ORGANIZACIONAL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58368" y="1828800"/>
            <a:ext cx="6903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Diagrama de Flujo de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Solicitudes de Vacaciones</a:t>
            </a:r>
            <a:endParaRPr lang="en-US" sz="3100" dirty="0"/>
          </a:p>
        </p:txBody>
      </p:sp>
      <p:sp>
        <p:nvSpPr>
          <p:cNvPr id="7" name="Text 4"/>
          <p:cNvSpPr/>
          <p:nvPr/>
        </p:nvSpPr>
        <p:spPr>
          <a:xfrm>
            <a:off x="685800" y="327355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2B7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Jerarquía de aprobación, avisos por correo y afectación en nómina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13232" y="4160520"/>
            <a:ext cx="146304" cy="146304"/>
          </a:xfrm>
          <a:prstGeom prst="ellipse">
            <a:avLst/>
          </a:prstGeom>
          <a:solidFill>
            <a:srgbClr val="5B8296"/>
          </a:solidFill>
          <a:ln w="12700">
            <a:solidFill>
              <a:srgbClr val="5B829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87552" y="410565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APROBACIÓN ESCALONADA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13232" y="4773168"/>
            <a:ext cx="146304" cy="146304"/>
          </a:xfrm>
          <a:prstGeom prst="ellipse">
            <a:avLst/>
          </a:prstGeom>
          <a:solidFill>
            <a:srgbClr val="5B8296"/>
          </a:solidFill>
          <a:ln w="12700">
            <a:solidFill>
              <a:srgbClr val="5B829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87552" y="471830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NOTIFICACIONES SMTP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13232" y="5385816"/>
            <a:ext cx="146304" cy="146304"/>
          </a:xfrm>
          <a:prstGeom prst="ellipse">
            <a:avLst/>
          </a:prstGeom>
          <a:solidFill>
            <a:srgbClr val="2F8F78"/>
          </a:solidFill>
          <a:ln w="12700">
            <a:solidFill>
              <a:srgbClr val="2F8F7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87552" y="533095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GOBERNANZA Y NÓMINA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549640" y="58978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LFT Art. 76  •  Formato FDO-84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2D62"/>
          </a:solidFill>
          <a:ln w="12700">
            <a:solidFill>
              <a:srgbClr val="002D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5B82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MÓDULO 1 • GOBERNANZA Y JERARQUÍA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515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2D6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Actores y responsabilidades del flujo</a:t>
            </a:r>
            <a:endParaRPr lang="en-US" sz="2700" dirty="0"/>
          </a:p>
        </p:txBody>
      </p:sp>
      <p:pic>
        <p:nvPicPr>
          <p:cNvPr id="5" name="Image 0" descr="/mnt/data/work_jama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338328"/>
            <a:ext cx="109728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201400" y="638251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B8296"/>
                </a:solidFill>
              </a:rPr>
              <a:t>02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02920" y="6318504"/>
            <a:ext cx="11155680" cy="1"/>
          </a:xfrm>
          <a:prstGeom prst="line">
            <a:avLst/>
          </a:prstGeom>
          <a:noFill/>
          <a:ln w="12700">
            <a:solidFill>
              <a:srgbClr val="D9E2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02920" y="1234440"/>
            <a:ext cx="2578608" cy="4526280"/>
          </a:xfrm>
          <a:prstGeom prst="roundRect">
            <a:avLst>
              <a:gd name="adj" fmla="val 2837"/>
            </a:avLst>
          </a:prstGeom>
          <a:solidFill>
            <a:srgbClr val="F4F7F9"/>
          </a:solidFill>
          <a:ln w="16510">
            <a:solidFill>
              <a:srgbClr val="A2B7C4"/>
            </a:solidFill>
            <a:prstDash val="solid"/>
          </a:ln>
          <a:effectLst>
            <a:outerShdw sx="100000" sy="100000" kx="0" ky="0" algn="bl" rotWithShape="0" blurRad="12700" dist="50800" dir="2700000">
              <a:srgbClr val="B8C5CF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67512" y="1444752"/>
            <a:ext cx="658368" cy="256032"/>
          </a:xfrm>
          <a:prstGeom prst="roundRect">
            <a:avLst>
              <a:gd name="adj" fmla="val 21429"/>
            </a:avLst>
          </a:prstGeom>
          <a:solidFill>
            <a:srgbClr val="002D62"/>
          </a:solidFill>
          <a:ln w="12700">
            <a:solidFill>
              <a:srgbClr val="002D6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7512" y="144475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PASO 01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67512" y="184708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02D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Colaborador solicitante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67512" y="2340864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5B82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Portal del Empleado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85800" y="2825496"/>
            <a:ext cx="82296" cy="82296"/>
          </a:xfrm>
          <a:prstGeom prst="ellipse">
            <a:avLst/>
          </a:prstGeom>
          <a:solidFill>
            <a:srgbClr val="5B8296"/>
          </a:solidFill>
          <a:ln w="12700">
            <a:solidFill>
              <a:srgbClr val="5B829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50392" y="271576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 saldo y vigencia LFT.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85800" y="3337560"/>
            <a:ext cx="82296" cy="82296"/>
          </a:xfrm>
          <a:prstGeom prst="ellipse">
            <a:avLst/>
          </a:prstGeom>
          <a:solidFill>
            <a:srgbClr val="5B8296"/>
          </a:solidFill>
          <a:ln w="12700">
            <a:solidFill>
              <a:srgbClr val="5B829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50392" y="3227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Selecciona fechas laborables.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85800" y="3849624"/>
            <a:ext cx="82296" cy="82296"/>
          </a:xfrm>
          <a:prstGeom prst="ellipse">
            <a:avLst/>
          </a:prstGeom>
          <a:solidFill>
            <a:srgbClr val="5B8296"/>
          </a:solidFill>
          <a:ln w="12700">
            <a:solidFill>
              <a:srgbClr val="5B829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50392" y="373989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 el motivo.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85800" y="4361688"/>
            <a:ext cx="82296" cy="82296"/>
          </a:xfrm>
          <a:prstGeom prst="ellipse">
            <a:avLst/>
          </a:prstGeom>
          <a:solidFill>
            <a:srgbClr val="5B8296"/>
          </a:solidFill>
          <a:ln w="12700">
            <a:solidFill>
              <a:srgbClr val="5B829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50392" y="425196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 PENDIENTE_LIDER.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85800" y="4873752"/>
            <a:ext cx="82296" cy="82296"/>
          </a:xfrm>
          <a:prstGeom prst="ellipse">
            <a:avLst/>
          </a:prstGeom>
          <a:solidFill>
            <a:srgbClr val="5B8296"/>
          </a:solidFill>
          <a:ln w="12700">
            <a:solidFill>
              <a:srgbClr val="5B829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50392" y="476402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Reserva días en trámite.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3127248" y="3337560"/>
            <a:ext cx="228600" cy="502920"/>
          </a:xfrm>
          <a:prstGeom prst="chevron">
            <a:avLst/>
          </a:prstGeom>
          <a:solidFill>
            <a:srgbClr val="A2B7C4"/>
          </a:solidFill>
          <a:ln w="12700">
            <a:solidFill>
              <a:srgbClr val="A2B7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319272" y="1234440"/>
            <a:ext cx="2578608" cy="4526280"/>
          </a:xfrm>
          <a:prstGeom prst="roundRect">
            <a:avLst>
              <a:gd name="adj" fmla="val 2837"/>
            </a:avLst>
          </a:prstGeom>
          <a:solidFill>
            <a:srgbClr val="F4F7F9"/>
          </a:solidFill>
          <a:ln w="16510">
            <a:solidFill>
              <a:srgbClr val="A2B7C4"/>
            </a:solidFill>
            <a:prstDash val="solid"/>
          </a:ln>
          <a:effectLst>
            <a:outerShdw sx="100000" sy="100000" kx="0" ky="0" algn="bl" rotWithShape="0" blurRad="12700" dist="50800" dir="2700000">
              <a:srgbClr val="B8C5CF">
                <a:alpha val="14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3483864" y="1444752"/>
            <a:ext cx="658368" cy="256032"/>
          </a:xfrm>
          <a:prstGeom prst="roundRect">
            <a:avLst>
              <a:gd name="adj" fmla="val 21429"/>
            </a:avLst>
          </a:prstGeom>
          <a:solidFill>
            <a:srgbClr val="002D62"/>
          </a:solidFill>
          <a:ln w="12700">
            <a:solidFill>
              <a:srgbClr val="002D6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483864" y="144475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PASO 02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3483864" y="184708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02D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Líder directo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83864" y="2340864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5B82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Bandeja de autorizaciones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3502152" y="2825496"/>
            <a:ext cx="82296" cy="82296"/>
          </a:xfrm>
          <a:prstGeom prst="ellipse">
            <a:avLst/>
          </a:prstGeom>
          <a:solidFill>
            <a:srgbClr val="5B8296"/>
          </a:solidFill>
          <a:ln w="12700">
            <a:solidFill>
              <a:srgbClr val="5B829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666744" y="271576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Revisa cobertura operativa.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3502152" y="3337560"/>
            <a:ext cx="82296" cy="82296"/>
          </a:xfrm>
          <a:prstGeom prst="ellipse">
            <a:avLst/>
          </a:prstGeom>
          <a:solidFill>
            <a:srgbClr val="5B8296"/>
          </a:solidFill>
          <a:ln w="12700">
            <a:solidFill>
              <a:srgbClr val="5B829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666744" y="3227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Aprueba o rechaza con motivo.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3502152" y="3849624"/>
            <a:ext cx="82296" cy="82296"/>
          </a:xfrm>
          <a:prstGeom prst="ellipse">
            <a:avLst/>
          </a:prstGeom>
          <a:solidFill>
            <a:srgbClr val="5B8296"/>
          </a:solidFill>
          <a:ln w="12700">
            <a:solidFill>
              <a:srgbClr val="5B8296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666744" y="373989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 a gerencia si aplica.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3502152" y="4361688"/>
            <a:ext cx="82296" cy="82296"/>
          </a:xfrm>
          <a:prstGeom prst="ellipse">
            <a:avLst/>
          </a:prstGeom>
          <a:solidFill>
            <a:srgbClr val="5B8296"/>
          </a:solidFill>
          <a:ln w="12700">
            <a:solidFill>
              <a:srgbClr val="5B8296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666744" y="425196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lo contrario, envía a DO.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3502152" y="4873752"/>
            <a:ext cx="82296" cy="82296"/>
          </a:xfrm>
          <a:prstGeom prst="ellipse">
            <a:avLst/>
          </a:prstGeom>
          <a:solidFill>
            <a:srgbClr val="5B8296"/>
          </a:solidFill>
          <a:ln w="12700">
            <a:solidFill>
              <a:srgbClr val="5B8296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666744" y="476402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descuento definitivo.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5943600" y="3337560"/>
            <a:ext cx="228600" cy="502920"/>
          </a:xfrm>
          <a:prstGeom prst="chevron">
            <a:avLst/>
          </a:prstGeom>
          <a:solidFill>
            <a:srgbClr val="A2B7C4"/>
          </a:solidFill>
          <a:ln w="12700">
            <a:solidFill>
              <a:srgbClr val="A2B7C4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135624" y="1234440"/>
            <a:ext cx="2578608" cy="4526280"/>
          </a:xfrm>
          <a:prstGeom prst="roundRect">
            <a:avLst>
              <a:gd name="adj" fmla="val 2837"/>
            </a:avLst>
          </a:prstGeom>
          <a:solidFill>
            <a:srgbClr val="F4F7F9"/>
          </a:solidFill>
          <a:ln w="16510">
            <a:solidFill>
              <a:srgbClr val="A2B7C4"/>
            </a:solidFill>
            <a:prstDash val="solid"/>
          </a:ln>
          <a:effectLst>
            <a:outerShdw sx="100000" sy="100000" kx="0" ky="0" algn="bl" rotWithShape="0" blurRad="12700" dist="50800" dir="2700000">
              <a:srgbClr val="B8C5CF">
                <a:alpha val="14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6300216" y="1444752"/>
            <a:ext cx="658368" cy="256032"/>
          </a:xfrm>
          <a:prstGeom prst="roundRect">
            <a:avLst>
              <a:gd name="adj" fmla="val 21429"/>
            </a:avLst>
          </a:prstGeom>
          <a:solidFill>
            <a:srgbClr val="002D62"/>
          </a:solidFill>
          <a:ln w="12700">
            <a:solidFill>
              <a:srgbClr val="002D6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300216" y="144475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PASO 03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6300216" y="184708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02D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Gerente de sucursal / planta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6300216" y="2340864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5B82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Segundo nivel condicional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6318504" y="2825496"/>
            <a:ext cx="82296" cy="82296"/>
          </a:xfrm>
          <a:prstGeom prst="ellipse">
            <a:avLst/>
          </a:prstGeom>
          <a:solidFill>
            <a:srgbClr val="5B8296"/>
          </a:solidFill>
          <a:ln w="12700">
            <a:solidFill>
              <a:srgbClr val="5B8296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483096" y="271576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Revisa autorización previa.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6318504" y="3337560"/>
            <a:ext cx="82296" cy="82296"/>
          </a:xfrm>
          <a:prstGeom prst="ellipse">
            <a:avLst/>
          </a:prstGeom>
          <a:solidFill>
            <a:srgbClr val="5B8296"/>
          </a:solidFill>
          <a:ln w="12700">
            <a:solidFill>
              <a:srgbClr val="5B8296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483096" y="3227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Aprueba hacia PENDIENTE_DO.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6318504" y="3849624"/>
            <a:ext cx="82296" cy="82296"/>
          </a:xfrm>
          <a:prstGeom prst="ellipse">
            <a:avLst/>
          </a:prstGeom>
          <a:solidFill>
            <a:srgbClr val="5B8296"/>
          </a:solidFill>
          <a:ln w="12700">
            <a:solidFill>
              <a:srgbClr val="5B8296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6483096" y="373989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Rechaza con motivo obligatorio.</a:t>
            </a:r>
            <a:endParaRPr lang="en-US" sz="1050" dirty="0"/>
          </a:p>
        </p:txBody>
      </p:sp>
      <p:sp>
        <p:nvSpPr>
          <p:cNvPr id="51" name="Shape 48"/>
          <p:cNvSpPr/>
          <p:nvPr/>
        </p:nvSpPr>
        <p:spPr>
          <a:xfrm>
            <a:off x="6318504" y="4361688"/>
            <a:ext cx="82296" cy="82296"/>
          </a:xfrm>
          <a:prstGeom prst="ellipse">
            <a:avLst/>
          </a:prstGeom>
          <a:solidFill>
            <a:srgbClr val="5B8296"/>
          </a:solidFill>
          <a:ln w="12700">
            <a:solidFill>
              <a:srgbClr val="5B8296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483096" y="425196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Confirma escalamiento.</a:t>
            </a:r>
            <a:endParaRPr lang="en-US" sz="1050" dirty="0"/>
          </a:p>
        </p:txBody>
      </p:sp>
      <p:sp>
        <p:nvSpPr>
          <p:cNvPr id="53" name="Shape 50"/>
          <p:cNvSpPr/>
          <p:nvPr/>
        </p:nvSpPr>
        <p:spPr>
          <a:xfrm>
            <a:off x="8759952" y="3337560"/>
            <a:ext cx="228600" cy="502920"/>
          </a:xfrm>
          <a:prstGeom prst="chevron">
            <a:avLst/>
          </a:prstGeom>
          <a:solidFill>
            <a:srgbClr val="A2B7C4"/>
          </a:solidFill>
          <a:ln w="12700">
            <a:solidFill>
              <a:srgbClr val="A2B7C4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8951976" y="1234440"/>
            <a:ext cx="2578608" cy="4526280"/>
          </a:xfrm>
          <a:prstGeom prst="roundRect">
            <a:avLst>
              <a:gd name="adj" fmla="val 2837"/>
            </a:avLst>
          </a:prstGeom>
          <a:solidFill>
            <a:srgbClr val="EDF7F3"/>
          </a:solidFill>
          <a:ln w="16510">
            <a:solidFill>
              <a:srgbClr val="2F8F78"/>
            </a:solidFill>
            <a:prstDash val="solid"/>
          </a:ln>
          <a:effectLst>
            <a:outerShdw sx="100000" sy="100000" kx="0" ky="0" algn="bl" rotWithShape="0" blurRad="12700" dist="50800" dir="2700000">
              <a:srgbClr val="B8C5CF">
                <a:alpha val="14000"/>
              </a:srgbClr>
            </a:outerShdw>
          </a:effectLst>
        </p:spPr>
      </p:sp>
      <p:sp>
        <p:nvSpPr>
          <p:cNvPr id="55" name="Shape 52"/>
          <p:cNvSpPr/>
          <p:nvPr/>
        </p:nvSpPr>
        <p:spPr>
          <a:xfrm>
            <a:off x="9116568" y="1444752"/>
            <a:ext cx="658368" cy="256032"/>
          </a:xfrm>
          <a:prstGeom prst="roundRect">
            <a:avLst>
              <a:gd name="adj" fmla="val 21429"/>
            </a:avLst>
          </a:prstGeom>
          <a:solidFill>
            <a:srgbClr val="2F8F78"/>
          </a:solidFill>
          <a:ln w="12700">
            <a:solidFill>
              <a:srgbClr val="2F8F78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9116568" y="144475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PASO 04</a:t>
            </a:r>
            <a:endParaRPr lang="en-US" sz="800" dirty="0"/>
          </a:p>
        </p:txBody>
      </p:sp>
      <p:sp>
        <p:nvSpPr>
          <p:cNvPr id="57" name="Text 54"/>
          <p:cNvSpPr/>
          <p:nvPr/>
        </p:nvSpPr>
        <p:spPr>
          <a:xfrm>
            <a:off x="9116568" y="184708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02D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Desarrollo Organizacional</a:t>
            </a:r>
            <a:endParaRPr lang="en-US" sz="1600" dirty="0"/>
          </a:p>
        </p:txBody>
      </p:sp>
      <p:sp>
        <p:nvSpPr>
          <p:cNvPr id="58" name="Text 55"/>
          <p:cNvSpPr/>
          <p:nvPr/>
        </p:nvSpPr>
        <p:spPr>
          <a:xfrm>
            <a:off x="9116568" y="2340864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F8F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Gobernanza centralizada</a:t>
            </a:r>
            <a:endParaRPr lang="en-US" sz="1000" dirty="0"/>
          </a:p>
        </p:txBody>
      </p:sp>
      <p:sp>
        <p:nvSpPr>
          <p:cNvPr id="59" name="Shape 56"/>
          <p:cNvSpPr/>
          <p:nvPr/>
        </p:nvSpPr>
        <p:spPr>
          <a:xfrm>
            <a:off x="9134856" y="2825496"/>
            <a:ext cx="82296" cy="82296"/>
          </a:xfrm>
          <a:prstGeom prst="ellipse">
            <a:avLst/>
          </a:prstGeom>
          <a:solidFill>
            <a:srgbClr val="2F8F78"/>
          </a:solidFill>
          <a:ln w="12700">
            <a:solidFill>
              <a:srgbClr val="2F8F78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9299448" y="271576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Revisa “VoBo DO Pendiente”.</a:t>
            </a:r>
            <a:endParaRPr lang="en-US" sz="1050" dirty="0"/>
          </a:p>
        </p:txBody>
      </p:sp>
      <p:sp>
        <p:nvSpPr>
          <p:cNvPr id="61" name="Shape 58"/>
          <p:cNvSpPr/>
          <p:nvPr/>
        </p:nvSpPr>
        <p:spPr>
          <a:xfrm>
            <a:off x="9134856" y="3337560"/>
            <a:ext cx="82296" cy="82296"/>
          </a:xfrm>
          <a:prstGeom prst="ellipse">
            <a:avLst/>
          </a:prstGeom>
          <a:solidFill>
            <a:srgbClr val="2F8F78"/>
          </a:solidFill>
          <a:ln w="12700">
            <a:solidFill>
              <a:srgbClr val="2F8F78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9299448" y="3227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 nómina e incidencias.</a:t>
            </a:r>
            <a:endParaRPr lang="en-US" sz="1050" dirty="0"/>
          </a:p>
        </p:txBody>
      </p:sp>
      <p:sp>
        <p:nvSpPr>
          <p:cNvPr id="63" name="Shape 60"/>
          <p:cNvSpPr/>
          <p:nvPr/>
        </p:nvSpPr>
        <p:spPr>
          <a:xfrm>
            <a:off x="9134856" y="3849624"/>
            <a:ext cx="82296" cy="82296"/>
          </a:xfrm>
          <a:prstGeom prst="ellipse">
            <a:avLst/>
          </a:prstGeom>
          <a:solidFill>
            <a:srgbClr val="2F8F78"/>
          </a:solidFill>
          <a:ln w="12700">
            <a:solidFill>
              <a:srgbClr val="2F8F78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9299448" y="373989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Emite el visto bueno final.</a:t>
            </a:r>
            <a:endParaRPr lang="en-US" sz="1050" dirty="0"/>
          </a:p>
        </p:txBody>
      </p:sp>
      <p:sp>
        <p:nvSpPr>
          <p:cNvPr id="65" name="Shape 62"/>
          <p:cNvSpPr/>
          <p:nvPr/>
        </p:nvSpPr>
        <p:spPr>
          <a:xfrm>
            <a:off x="9134856" y="4361688"/>
            <a:ext cx="82296" cy="82296"/>
          </a:xfrm>
          <a:prstGeom prst="ellipse">
            <a:avLst/>
          </a:prstGeom>
          <a:solidFill>
            <a:srgbClr val="2F8F78"/>
          </a:solidFill>
          <a:ln w="12700">
            <a:solidFill>
              <a:srgbClr val="2F8F78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9299448" y="425196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Ejecuta PEPS.</a:t>
            </a:r>
            <a:endParaRPr lang="en-US" sz="1050" dirty="0"/>
          </a:p>
        </p:txBody>
      </p:sp>
      <p:sp>
        <p:nvSpPr>
          <p:cNvPr id="67" name="Shape 64"/>
          <p:cNvSpPr/>
          <p:nvPr/>
        </p:nvSpPr>
        <p:spPr>
          <a:xfrm>
            <a:off x="9134856" y="4873752"/>
            <a:ext cx="82296" cy="82296"/>
          </a:xfrm>
          <a:prstGeom prst="ellipse">
            <a:avLst/>
          </a:prstGeom>
          <a:solidFill>
            <a:srgbClr val="2F8F78"/>
          </a:solidFill>
          <a:ln w="12700">
            <a:solidFill>
              <a:srgbClr val="2F8F78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9299448" y="476402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Sella el formato FDO-84.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2D62"/>
          </a:solidFill>
          <a:ln w="12700">
            <a:solidFill>
              <a:srgbClr val="002D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5B82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MÓDULO 2 • DIAGRAMA DE ESTADOS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515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2D6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Ciclo de vida de la solicitud</a:t>
            </a:r>
            <a:endParaRPr lang="en-US" sz="2700" dirty="0"/>
          </a:p>
        </p:txBody>
      </p:sp>
      <p:pic>
        <p:nvPicPr>
          <p:cNvPr id="5" name="Image 0" descr="/mnt/data/work_jama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338328"/>
            <a:ext cx="109728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201400" y="638251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B8296"/>
                </a:solidFill>
              </a:rPr>
              <a:t>03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02920" y="6318504"/>
            <a:ext cx="11155680" cy="1"/>
          </a:xfrm>
          <a:prstGeom prst="line">
            <a:avLst/>
          </a:prstGeom>
          <a:noFill/>
          <a:ln w="12700">
            <a:solidFill>
              <a:srgbClr val="D9E2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02920" y="1481328"/>
            <a:ext cx="196596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21590">
            <a:solidFill>
              <a:srgbClr val="002D6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166420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D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Solicitud creada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30936" y="1993392"/>
            <a:ext cx="170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PENDIENTE_LIDER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Días reservados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542032" y="1810512"/>
            <a:ext cx="256032" cy="384048"/>
          </a:xfrm>
          <a:prstGeom prst="chevron">
            <a:avLst/>
          </a:prstGeom>
          <a:solidFill>
            <a:srgbClr val="5B8296"/>
          </a:solidFill>
          <a:ln w="12700">
            <a:solidFill>
              <a:srgbClr val="5B829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788920" y="1481328"/>
            <a:ext cx="210312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21590">
            <a:solidFill>
              <a:srgbClr val="002D6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926080" y="16642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D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Revisión de jefatura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2916936" y="1993392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Evalúa cobertura y ausencias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965192" y="1810512"/>
            <a:ext cx="256032" cy="384048"/>
          </a:xfrm>
          <a:prstGeom prst="chevron">
            <a:avLst/>
          </a:prstGeom>
          <a:solidFill>
            <a:srgbClr val="5B8296"/>
          </a:solidFill>
          <a:ln w="12700">
            <a:solidFill>
              <a:srgbClr val="5B829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257800" y="1481328"/>
            <a:ext cx="205740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21590">
            <a:solidFill>
              <a:srgbClr val="5B829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394960" y="166420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82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¿Requiere 2.º nivel?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385816" y="1993392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Sí: PENDIENTE_GERENTE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No: pasa a DO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388352" y="1810512"/>
            <a:ext cx="256032" cy="384048"/>
          </a:xfrm>
          <a:prstGeom prst="chevron">
            <a:avLst/>
          </a:prstGeom>
          <a:solidFill>
            <a:srgbClr val="2F8F78"/>
          </a:solidFill>
          <a:ln w="12700">
            <a:solidFill>
              <a:srgbClr val="2F8F7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680960" y="1481328"/>
            <a:ext cx="187452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21590">
            <a:solidFill>
              <a:srgbClr val="2F8F7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818120" y="166420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8F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Vo.Bo. DO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808976" y="1993392"/>
            <a:ext cx="1618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PENDIENTE_DO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Resolución final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9628632" y="1810512"/>
            <a:ext cx="256032" cy="384048"/>
          </a:xfrm>
          <a:prstGeom prst="chevron">
            <a:avLst/>
          </a:prstGeom>
          <a:solidFill>
            <a:srgbClr val="2F8F78"/>
          </a:solidFill>
          <a:ln w="12700">
            <a:solidFill>
              <a:srgbClr val="2F8F7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921240" y="1481328"/>
            <a:ext cx="1737360" cy="1078992"/>
          </a:xfrm>
          <a:prstGeom prst="roundRect">
            <a:avLst>
              <a:gd name="adj" fmla="val 5932"/>
            </a:avLst>
          </a:prstGeom>
          <a:solidFill>
            <a:srgbClr val="E7F4EF"/>
          </a:solidFill>
          <a:ln w="21590">
            <a:solidFill>
              <a:srgbClr val="2F8F7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0058400" y="16642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8F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APROBADA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10049256" y="1993392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PEPS + FDO-84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840480" y="2560320"/>
            <a:ext cx="1" cy="594360"/>
          </a:xfrm>
          <a:prstGeom prst="line">
            <a:avLst/>
          </a:prstGeom>
          <a:noFill/>
          <a:ln w="25400">
            <a:solidFill>
              <a:srgbClr val="C84A4A"/>
            </a:solidFill>
            <a:prstDash val="solid"/>
            <a:headEnd type="none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2907792" y="3218688"/>
            <a:ext cx="1874520" cy="804672"/>
          </a:xfrm>
          <a:prstGeom prst="roundRect">
            <a:avLst>
              <a:gd name="adj" fmla="val 6818"/>
            </a:avLst>
          </a:prstGeom>
          <a:solidFill>
            <a:srgbClr val="FFF3F3"/>
          </a:solidFill>
          <a:ln w="17780">
            <a:solidFill>
              <a:srgbClr val="C84A4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063240" y="33832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RECHAZADA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3044952" y="363931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Motivo registrado y días liberados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658368" y="4617720"/>
            <a:ext cx="10881360" cy="1078992"/>
          </a:xfrm>
          <a:prstGeom prst="roundRect">
            <a:avLst>
              <a:gd name="adj" fmla="val 6780"/>
            </a:avLst>
          </a:prstGeom>
          <a:solidFill>
            <a:srgbClr val="FFF8DD"/>
          </a:solidFill>
          <a:ln w="15240">
            <a:solidFill>
              <a:srgbClr val="D39A22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86968" y="4828032"/>
            <a:ext cx="1600200" cy="256032"/>
          </a:xfrm>
          <a:prstGeom prst="roundRect">
            <a:avLst>
              <a:gd name="adj" fmla="val 21429"/>
            </a:avLst>
          </a:prstGeom>
          <a:solidFill>
            <a:srgbClr val="D39A22"/>
          </a:solidFill>
          <a:ln w="12700">
            <a:solidFill>
              <a:srgbClr val="D39A22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86968" y="482803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 DE GOBERNANZA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2697480" y="4773168"/>
            <a:ext cx="8458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Ninguna solicitud se considera aprobada ni descuenta saldos en CONTPAQi hasta el visto bueno final de Desarrollo Organizacional. Mientras tanto, permanece en “VoBo DO Pendiente”.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2D62"/>
          </a:solidFill>
          <a:ln w="12700">
            <a:solidFill>
              <a:srgbClr val="002D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5B82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MÓDULO 3 • NOTIFICACIONES SMTP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515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2D6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Matriz de avisos por correo electrónico</a:t>
            </a:r>
            <a:endParaRPr lang="en-US" sz="2700" dirty="0"/>
          </a:p>
        </p:txBody>
      </p:sp>
      <p:pic>
        <p:nvPicPr>
          <p:cNvPr id="5" name="Image 0" descr="/mnt/data/work_jama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338328"/>
            <a:ext cx="109728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201400" y="638251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B8296"/>
                </a:solidFill>
              </a:rPr>
              <a:t>04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02920" y="6318504"/>
            <a:ext cx="11155680" cy="1"/>
          </a:xfrm>
          <a:prstGeom prst="line">
            <a:avLst/>
          </a:prstGeom>
          <a:noFill/>
          <a:ln w="12700">
            <a:solidFill>
              <a:srgbClr val="D9E2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02920" y="1280160"/>
            <a:ext cx="457200" cy="475488"/>
          </a:xfrm>
          <a:prstGeom prst="rect">
            <a:avLst/>
          </a:prstGeom>
          <a:solidFill>
            <a:srgbClr val="002D62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6072" y="1371600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960120" y="1280160"/>
            <a:ext cx="2194560" cy="475488"/>
          </a:xfrm>
          <a:prstGeom prst="rect">
            <a:avLst/>
          </a:prstGeom>
          <a:solidFill>
            <a:srgbClr val="002D62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33272" y="1371600"/>
            <a:ext cx="2048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Evento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200400" y="1280160"/>
            <a:ext cx="1783080" cy="475488"/>
          </a:xfrm>
          <a:prstGeom prst="rect">
            <a:avLst/>
          </a:prstGeom>
          <a:solidFill>
            <a:srgbClr val="002D62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73552" y="1371600"/>
            <a:ext cx="1636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Disparador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029200" y="1280160"/>
            <a:ext cx="1755648" cy="475488"/>
          </a:xfrm>
          <a:prstGeom prst="rect">
            <a:avLst/>
          </a:prstGeom>
          <a:solidFill>
            <a:srgbClr val="002D62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102352" y="1371600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Destinatarios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784848" y="1280160"/>
            <a:ext cx="3429000" cy="475488"/>
          </a:xfrm>
          <a:prstGeom prst="rect">
            <a:avLst/>
          </a:prstGeom>
          <a:solidFill>
            <a:srgbClr val="002D62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858000" y="1371600"/>
            <a:ext cx="3282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Contenido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10241280" y="1280160"/>
            <a:ext cx="1417320" cy="475488"/>
          </a:xfrm>
          <a:prstGeom prst="rect">
            <a:avLst/>
          </a:prstGeom>
          <a:solidFill>
            <a:srgbClr val="002D62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314432" y="1371600"/>
            <a:ext cx="1271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FDO-84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02920" y="1755648"/>
            <a:ext cx="457200" cy="841248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76072" y="1865376"/>
            <a:ext cx="310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2D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960120" y="1755648"/>
            <a:ext cx="2194560" cy="841248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33272" y="1865376"/>
            <a:ext cx="20482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Registro de solicitud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3200400" y="1755648"/>
            <a:ext cx="1783080" cy="841248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273552" y="1865376"/>
            <a:ext cx="16367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 enviar el trámite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5029200" y="1755648"/>
            <a:ext cx="1755648" cy="841248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102352" y="1865376"/>
            <a:ext cx="16093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Jefe inmediato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6784848" y="1755648"/>
            <a:ext cx="3429000" cy="841248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858000" y="1865376"/>
            <a:ext cx="32826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Nueva solicitud, fechas, días y acceso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10241280" y="1755648"/>
            <a:ext cx="1417320" cy="841248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0314432" y="1865376"/>
            <a:ext cx="12710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Borrador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502920" y="2596896"/>
            <a:ext cx="457200" cy="841248"/>
          </a:xfrm>
          <a:prstGeom prst="rect">
            <a:avLst/>
          </a:prstGeom>
          <a:solidFill>
            <a:srgbClr val="F4F7F9"/>
          </a:solidFill>
          <a:ln w="7620">
            <a:solidFill>
              <a:srgbClr val="D9E2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76072" y="2706624"/>
            <a:ext cx="310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2D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960120" y="2596896"/>
            <a:ext cx="2194560" cy="841248"/>
          </a:xfrm>
          <a:prstGeom prst="rect">
            <a:avLst/>
          </a:prstGeom>
          <a:solidFill>
            <a:srgbClr val="F4F7F9"/>
          </a:solidFill>
          <a:ln w="7620">
            <a:solidFill>
              <a:srgbClr val="D9E2E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033272" y="2706624"/>
            <a:ext cx="20482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Escalamiento gerencial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3200400" y="2596896"/>
            <a:ext cx="1783080" cy="841248"/>
          </a:xfrm>
          <a:prstGeom prst="rect">
            <a:avLst/>
          </a:prstGeom>
          <a:solidFill>
            <a:srgbClr val="F4F7F9"/>
          </a:solidFill>
          <a:ln w="7620">
            <a:solidFill>
              <a:srgbClr val="D9E2E8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273552" y="2706624"/>
            <a:ext cx="16367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Tras aprobación N1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5029200" y="2596896"/>
            <a:ext cx="1755648" cy="841248"/>
          </a:xfrm>
          <a:prstGeom prst="rect">
            <a:avLst/>
          </a:prstGeom>
          <a:solidFill>
            <a:srgbClr val="F4F7F9"/>
          </a:solidFill>
          <a:ln w="7620">
            <a:solidFill>
              <a:srgbClr val="D9E2E8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102352" y="2706624"/>
            <a:ext cx="16093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Gerente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6784848" y="2596896"/>
            <a:ext cx="3429000" cy="841248"/>
          </a:xfrm>
          <a:prstGeom prst="rect">
            <a:avLst/>
          </a:prstGeom>
          <a:solidFill>
            <a:srgbClr val="F4F7F9"/>
          </a:solidFill>
          <a:ln w="7620">
            <a:solidFill>
              <a:srgbClr val="D9E2E8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858000" y="2706624"/>
            <a:ext cx="32826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Requiere autorización de gerencia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10241280" y="2596896"/>
            <a:ext cx="1417320" cy="841248"/>
          </a:xfrm>
          <a:prstGeom prst="rect">
            <a:avLst/>
          </a:prstGeom>
          <a:solidFill>
            <a:srgbClr val="F4F7F9"/>
          </a:solidFill>
          <a:ln w="7620">
            <a:solidFill>
              <a:srgbClr val="D9E2E8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10314432" y="2706624"/>
            <a:ext cx="12710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Sello N1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502920" y="3438144"/>
            <a:ext cx="457200" cy="841248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8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576072" y="3547872"/>
            <a:ext cx="310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2D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200" dirty="0"/>
          </a:p>
        </p:txBody>
      </p:sp>
      <p:sp>
        <p:nvSpPr>
          <p:cNvPr id="46" name="Shape 43"/>
          <p:cNvSpPr/>
          <p:nvPr/>
        </p:nvSpPr>
        <p:spPr>
          <a:xfrm>
            <a:off x="960120" y="3438144"/>
            <a:ext cx="2194560" cy="841248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8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1033272" y="3547872"/>
            <a:ext cx="20482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Pase a Vo.Bo. DO</a:t>
            </a:r>
            <a:endParaRPr lang="en-US" sz="950" dirty="0"/>
          </a:p>
        </p:txBody>
      </p:sp>
      <p:sp>
        <p:nvSpPr>
          <p:cNvPr id="48" name="Shape 45"/>
          <p:cNvSpPr/>
          <p:nvPr/>
        </p:nvSpPr>
        <p:spPr>
          <a:xfrm>
            <a:off x="3200400" y="3438144"/>
            <a:ext cx="1783080" cy="841248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8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3273552" y="3547872"/>
            <a:ext cx="16367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Tras último nivel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029200" y="3438144"/>
            <a:ext cx="1755648" cy="841248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8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5102352" y="3547872"/>
            <a:ext cx="16093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Administración DO</a:t>
            </a:r>
            <a:endParaRPr lang="en-US" sz="950" dirty="0"/>
          </a:p>
        </p:txBody>
      </p:sp>
      <p:sp>
        <p:nvSpPr>
          <p:cNvPr id="52" name="Shape 49"/>
          <p:cNvSpPr/>
          <p:nvPr/>
        </p:nvSpPr>
        <p:spPr>
          <a:xfrm>
            <a:off x="6784848" y="3438144"/>
            <a:ext cx="3429000" cy="841248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8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6858000" y="3547872"/>
            <a:ext cx="32826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Listo para revisión y nómina</a:t>
            </a:r>
            <a:endParaRPr lang="en-US" sz="950" dirty="0"/>
          </a:p>
        </p:txBody>
      </p:sp>
      <p:sp>
        <p:nvSpPr>
          <p:cNvPr id="54" name="Shape 51"/>
          <p:cNvSpPr/>
          <p:nvPr/>
        </p:nvSpPr>
        <p:spPr>
          <a:xfrm>
            <a:off x="10241280" y="3438144"/>
            <a:ext cx="1417320" cy="841248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8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10314432" y="3547872"/>
            <a:ext cx="12710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Sellos jerárquicos</a:t>
            </a:r>
            <a:endParaRPr lang="en-US" sz="950" dirty="0"/>
          </a:p>
        </p:txBody>
      </p:sp>
      <p:sp>
        <p:nvSpPr>
          <p:cNvPr id="56" name="Shape 53"/>
          <p:cNvSpPr/>
          <p:nvPr/>
        </p:nvSpPr>
        <p:spPr>
          <a:xfrm>
            <a:off x="502920" y="4279392"/>
            <a:ext cx="457200" cy="841248"/>
          </a:xfrm>
          <a:prstGeom prst="rect">
            <a:avLst/>
          </a:prstGeom>
          <a:solidFill>
            <a:srgbClr val="F4F7F9"/>
          </a:solidFill>
          <a:ln w="7620">
            <a:solidFill>
              <a:srgbClr val="D9E2E8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576072" y="4389120"/>
            <a:ext cx="310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2D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200" dirty="0"/>
          </a:p>
        </p:txBody>
      </p:sp>
      <p:sp>
        <p:nvSpPr>
          <p:cNvPr id="58" name="Shape 55"/>
          <p:cNvSpPr/>
          <p:nvPr/>
        </p:nvSpPr>
        <p:spPr>
          <a:xfrm>
            <a:off x="960120" y="4279392"/>
            <a:ext cx="2194560" cy="841248"/>
          </a:xfrm>
          <a:prstGeom prst="rect">
            <a:avLst/>
          </a:prstGeom>
          <a:solidFill>
            <a:srgbClr val="F4F7F9"/>
          </a:solidFill>
          <a:ln w="7620">
            <a:solidFill>
              <a:srgbClr val="D9E2E8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1033272" y="4389120"/>
            <a:ext cx="20482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Conclusión y Vo.Bo.</a:t>
            </a:r>
            <a:endParaRPr lang="en-US" sz="950" dirty="0"/>
          </a:p>
        </p:txBody>
      </p:sp>
      <p:sp>
        <p:nvSpPr>
          <p:cNvPr id="60" name="Shape 57"/>
          <p:cNvSpPr/>
          <p:nvPr/>
        </p:nvSpPr>
        <p:spPr>
          <a:xfrm>
            <a:off x="3200400" y="4279392"/>
            <a:ext cx="1783080" cy="841248"/>
          </a:xfrm>
          <a:prstGeom prst="rect">
            <a:avLst/>
          </a:prstGeom>
          <a:solidFill>
            <a:srgbClr val="F4F7F9"/>
          </a:solidFill>
          <a:ln w="7620">
            <a:solidFill>
              <a:srgbClr val="D9E2E8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3273552" y="4389120"/>
            <a:ext cx="16367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Tras validación DO</a:t>
            </a:r>
            <a:endParaRPr lang="en-US" sz="950" dirty="0"/>
          </a:p>
        </p:txBody>
      </p:sp>
      <p:sp>
        <p:nvSpPr>
          <p:cNvPr id="62" name="Shape 59"/>
          <p:cNvSpPr/>
          <p:nvPr/>
        </p:nvSpPr>
        <p:spPr>
          <a:xfrm>
            <a:off x="5029200" y="4279392"/>
            <a:ext cx="1755648" cy="841248"/>
          </a:xfrm>
          <a:prstGeom prst="rect">
            <a:avLst/>
          </a:prstGeom>
          <a:solidFill>
            <a:srgbClr val="F4F7F9"/>
          </a:solidFill>
          <a:ln w="7620">
            <a:solidFill>
              <a:srgbClr val="D9E2E8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5102352" y="4389120"/>
            <a:ext cx="16093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Colaborador + responsables</a:t>
            </a:r>
            <a:endParaRPr lang="en-US" sz="950" dirty="0"/>
          </a:p>
        </p:txBody>
      </p:sp>
      <p:sp>
        <p:nvSpPr>
          <p:cNvPr id="64" name="Shape 61"/>
          <p:cNvSpPr/>
          <p:nvPr/>
        </p:nvSpPr>
        <p:spPr>
          <a:xfrm>
            <a:off x="6784848" y="4279392"/>
            <a:ext cx="3429000" cy="841248"/>
          </a:xfrm>
          <a:prstGeom prst="rect">
            <a:avLst/>
          </a:prstGeom>
          <a:solidFill>
            <a:srgbClr val="F4F7F9"/>
          </a:solidFill>
          <a:ln w="7620">
            <a:solidFill>
              <a:srgbClr val="D9E2E8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6858000" y="4389120"/>
            <a:ext cx="32826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Confirmación, saldo y reincorporación</a:t>
            </a:r>
            <a:endParaRPr lang="en-US" sz="950" dirty="0"/>
          </a:p>
        </p:txBody>
      </p:sp>
      <p:sp>
        <p:nvSpPr>
          <p:cNvPr id="66" name="Shape 63"/>
          <p:cNvSpPr/>
          <p:nvPr/>
        </p:nvSpPr>
        <p:spPr>
          <a:xfrm>
            <a:off x="10241280" y="4279392"/>
            <a:ext cx="1417320" cy="841248"/>
          </a:xfrm>
          <a:prstGeom prst="rect">
            <a:avLst/>
          </a:prstGeom>
          <a:solidFill>
            <a:srgbClr val="F4F7F9"/>
          </a:solidFill>
          <a:ln w="7620">
            <a:solidFill>
              <a:srgbClr val="D9E2E8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10314432" y="4389120"/>
            <a:ext cx="12710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Oficial</a:t>
            </a:r>
            <a:endParaRPr lang="en-US" sz="950" dirty="0"/>
          </a:p>
        </p:txBody>
      </p:sp>
      <p:sp>
        <p:nvSpPr>
          <p:cNvPr id="68" name="Shape 65"/>
          <p:cNvSpPr/>
          <p:nvPr/>
        </p:nvSpPr>
        <p:spPr>
          <a:xfrm>
            <a:off x="502920" y="5120640"/>
            <a:ext cx="457200" cy="841248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8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576072" y="5230368"/>
            <a:ext cx="310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2D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1200" dirty="0"/>
          </a:p>
        </p:txBody>
      </p:sp>
      <p:sp>
        <p:nvSpPr>
          <p:cNvPr id="70" name="Shape 67"/>
          <p:cNvSpPr/>
          <p:nvPr/>
        </p:nvSpPr>
        <p:spPr>
          <a:xfrm>
            <a:off x="960120" y="5120640"/>
            <a:ext cx="2194560" cy="841248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8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1033272" y="5230368"/>
            <a:ext cx="20482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Rechazo</a:t>
            </a:r>
            <a:endParaRPr lang="en-US" sz="950" dirty="0"/>
          </a:p>
        </p:txBody>
      </p:sp>
      <p:sp>
        <p:nvSpPr>
          <p:cNvPr id="72" name="Shape 69"/>
          <p:cNvSpPr/>
          <p:nvPr/>
        </p:nvSpPr>
        <p:spPr>
          <a:xfrm>
            <a:off x="3200400" y="5120640"/>
            <a:ext cx="1783080" cy="841248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8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3273552" y="5230368"/>
            <a:ext cx="16367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cualquier nivel</a:t>
            </a:r>
            <a:endParaRPr lang="en-US" sz="950" dirty="0"/>
          </a:p>
        </p:txBody>
      </p:sp>
      <p:sp>
        <p:nvSpPr>
          <p:cNvPr id="74" name="Shape 71"/>
          <p:cNvSpPr/>
          <p:nvPr/>
        </p:nvSpPr>
        <p:spPr>
          <a:xfrm>
            <a:off x="5029200" y="5120640"/>
            <a:ext cx="1755648" cy="841248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8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5102352" y="5230368"/>
            <a:ext cx="16093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Colaborador</a:t>
            </a:r>
            <a:endParaRPr lang="en-US" sz="950" dirty="0"/>
          </a:p>
        </p:txBody>
      </p:sp>
      <p:sp>
        <p:nvSpPr>
          <p:cNvPr id="76" name="Shape 73"/>
          <p:cNvSpPr/>
          <p:nvPr/>
        </p:nvSpPr>
        <p:spPr>
          <a:xfrm>
            <a:off x="6784848" y="5120640"/>
            <a:ext cx="3429000" cy="841248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8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6858000" y="5230368"/>
            <a:ext cx="32826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Motivo y reintegro de días</a:t>
            </a:r>
            <a:endParaRPr lang="en-US" sz="950" dirty="0"/>
          </a:p>
        </p:txBody>
      </p:sp>
      <p:sp>
        <p:nvSpPr>
          <p:cNvPr id="78" name="Shape 75"/>
          <p:cNvSpPr/>
          <p:nvPr/>
        </p:nvSpPr>
        <p:spPr>
          <a:xfrm>
            <a:off x="10241280" y="5120640"/>
            <a:ext cx="1417320" cy="841248"/>
          </a:xfrm>
          <a:prstGeom prst="rect">
            <a:avLst/>
          </a:prstGeom>
          <a:solidFill>
            <a:srgbClr val="FFFFFF"/>
          </a:solidFill>
          <a:ln w="7620">
            <a:solidFill>
              <a:srgbClr val="D9E2E8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10314432" y="5230368"/>
            <a:ext cx="12710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Cancelado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2D62"/>
          </a:solidFill>
          <a:ln w="12700">
            <a:solidFill>
              <a:srgbClr val="002D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5B82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MÓDULO 4 • REGULACIÓN Y FORMATO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0515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2D6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Cumplimiento LFT y estructura FDO-84</a:t>
            </a:r>
            <a:endParaRPr lang="en-US" sz="2700" dirty="0"/>
          </a:p>
        </p:txBody>
      </p:sp>
      <p:pic>
        <p:nvPicPr>
          <p:cNvPr id="5" name="Image 0" descr="/mnt/data/work_jama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338328"/>
            <a:ext cx="109728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201400" y="638251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B8296"/>
                </a:solidFill>
              </a:rPr>
              <a:t>05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02920" y="6318504"/>
            <a:ext cx="11155680" cy="1"/>
          </a:xfrm>
          <a:prstGeom prst="line">
            <a:avLst/>
          </a:prstGeom>
          <a:noFill/>
          <a:ln w="12700">
            <a:solidFill>
              <a:srgbClr val="D9E2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02920" y="1234440"/>
            <a:ext cx="5394960" cy="4526280"/>
          </a:xfrm>
          <a:prstGeom prst="roundRect">
            <a:avLst>
              <a:gd name="adj" fmla="val 1616"/>
            </a:avLst>
          </a:prstGeom>
          <a:solidFill>
            <a:srgbClr val="F4F7F9"/>
          </a:solidFill>
          <a:ln w="15240">
            <a:solidFill>
              <a:srgbClr val="A2B7C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1508760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02D62"/>
          </a:solidFill>
          <a:ln w="12700">
            <a:solidFill>
              <a:srgbClr val="002D6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150876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MARCO NORMATIVO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777240" y="190195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02D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Vacaciones dignas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04672" y="242316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B82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Artículo 76 LFT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057400" y="2404872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Mínimo de 12 días laborables en el primer año; incrementos conforme a la ley.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04672" y="317296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B82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Días hábiles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057400" y="3154680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Cómputo según jornada, excluyendo descansos y festivos aplicables.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04672" y="392277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B82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 PEPS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057400" y="3904488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Descuento primero del periodo de saldo más antiguo.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804672" y="467258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B82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Reincorporación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2057400" y="4654296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Primer día hábil posterior al periodo vacacional.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199632" y="1234440"/>
            <a:ext cx="5486400" cy="4526280"/>
          </a:xfrm>
          <a:prstGeom prst="roundRect">
            <a:avLst>
              <a:gd name="adj" fmla="val 1616"/>
            </a:avLst>
          </a:prstGeom>
          <a:solidFill>
            <a:srgbClr val="EDF7F3"/>
          </a:solidFill>
          <a:ln w="15240">
            <a:solidFill>
              <a:srgbClr val="2F8F7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73952" y="1508760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2F8F78"/>
          </a:solidFill>
          <a:ln w="12700">
            <a:solidFill>
              <a:srgbClr val="2F8F7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73952" y="150876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FORMATO FDO-84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6473952" y="190195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F8F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Estructura oficial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6473952" y="2414016"/>
            <a:ext cx="329184" cy="329184"/>
          </a:xfrm>
          <a:prstGeom prst="ellipse">
            <a:avLst/>
          </a:prstGeom>
          <a:solidFill>
            <a:srgbClr val="2F8F78"/>
          </a:solidFill>
          <a:ln w="12700">
            <a:solidFill>
              <a:srgbClr val="2F8F7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73952" y="2432304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6967728" y="2395728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2D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del trabajador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8522208" y="23774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Nombre, nómina, puesto, empresa, planta y sucursal.</a:t>
            </a:r>
            <a:endParaRPr lang="en-US" sz="1020" dirty="0"/>
          </a:p>
        </p:txBody>
      </p:sp>
      <p:sp>
        <p:nvSpPr>
          <p:cNvPr id="28" name="Shape 25"/>
          <p:cNvSpPr/>
          <p:nvPr/>
        </p:nvSpPr>
        <p:spPr>
          <a:xfrm>
            <a:off x="6473952" y="3172968"/>
            <a:ext cx="329184" cy="329184"/>
          </a:xfrm>
          <a:prstGeom prst="ellipse">
            <a:avLst/>
          </a:prstGeom>
          <a:solidFill>
            <a:srgbClr val="2F8F78"/>
          </a:solidFill>
          <a:ln w="12700">
            <a:solidFill>
              <a:srgbClr val="2F8F7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473952" y="3191256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6967728" y="3154680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2D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Ejercicio y saldos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8522208" y="313639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Antigüedad, días por ley, gozados, solicitados y remanente.</a:t>
            </a:r>
            <a:endParaRPr lang="en-US" sz="1020" dirty="0"/>
          </a:p>
        </p:txBody>
      </p:sp>
      <p:sp>
        <p:nvSpPr>
          <p:cNvPr id="32" name="Shape 29"/>
          <p:cNvSpPr/>
          <p:nvPr/>
        </p:nvSpPr>
        <p:spPr>
          <a:xfrm>
            <a:off x="6473952" y="3931920"/>
            <a:ext cx="329184" cy="329184"/>
          </a:xfrm>
          <a:prstGeom prst="ellipse">
            <a:avLst/>
          </a:prstGeom>
          <a:solidFill>
            <a:srgbClr val="2F8F78"/>
          </a:solidFill>
          <a:ln w="12700">
            <a:solidFill>
              <a:srgbClr val="2F8F7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473952" y="395020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6967728" y="3913632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2D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Periodo programado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8522208" y="3895344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Desde, hasta, total hábil y fecha de reincorporación.</a:t>
            </a:r>
            <a:endParaRPr lang="en-US" sz="1020" dirty="0"/>
          </a:p>
        </p:txBody>
      </p:sp>
      <p:sp>
        <p:nvSpPr>
          <p:cNvPr id="36" name="Shape 33"/>
          <p:cNvSpPr/>
          <p:nvPr/>
        </p:nvSpPr>
        <p:spPr>
          <a:xfrm>
            <a:off x="6473952" y="4690872"/>
            <a:ext cx="329184" cy="329184"/>
          </a:xfrm>
          <a:prstGeom prst="ellipse">
            <a:avLst/>
          </a:prstGeom>
          <a:solidFill>
            <a:srgbClr val="2F8F78"/>
          </a:solidFill>
          <a:ln w="12700">
            <a:solidFill>
              <a:srgbClr val="2F8F78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473952" y="4709160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967728" y="4672584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2D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Autorizaciones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8522208" y="4654296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Trabajador, jefatura, gerencia si aplica y validación DO.</a:t>
            </a:r>
            <a:endParaRPr lang="en-US" sz="10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Grupo JAMA</Company>
  <LinksUpToDate>false</LinksUpToDate>
  <SharedDoc>false</SharedDoc>
  <HyperlinksChanged>false</HyperlinksChanged>
  <AppVersion>16.0000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Diagrama de Flujo de Solicitudes de Vacaciones - Grupo JAMA</dc:title>
  <dc:subject>Flujo de solicitudes de vacaciones</dc:subject>
  <dc:creator>Enrique Alvarez</dc:creator>
  <lastModifiedBy>Enrique Alvarez</lastModifiedBy>
  <revision>1</revision>
  <dcterms:created xsi:type="dcterms:W3CDTF">2026-10-15T17:40:23.5741922Z</dcterms:created>
  <dcterms:modified xsi:type="dcterms:W3CDTF">2026-10-15T17:40:23.5741922Z</dcterms:modified>
</coreProperties>
</file>