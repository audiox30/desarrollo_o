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9080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Internal source: Diagrama_Flujo_Solicitudes_Vacaciones_Grupo_JAMA.pptx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Internal source: Diagrama_Flujo_Solicitudes_Vacaciones_Grupo_JAMA.pptx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Internal source: Diagrama_Flujo_Solicitudes_Vacaciones_Grupo_JAMA.pptx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Internal source: Diagrama_Flujo_Solicitudes_Vacaciones_Grupo_JAMA.pptx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Internal source: Diagrama_Flujo_Solicitudes_Vacaciones_Grupo_JAMA.pptx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Fuente: contenido proporcionado por el usuario. Se describe la lógica indicada para el sistema, incluida su regla de vigencia de 18 meses. El ciclo 2025–2026 es un ejemplo ilustrativo.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Fuente: contenido proporcionado por el usuario. La actualización del estatus se sincroniza desde nómina. No se especifica una regla adicional de liquidación o cancelación de saldos por baja.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D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8092440" y="0"/>
            <a:ext cx="4096512" cy="6858000"/>
          </a:xfrm>
          <a:prstGeom prst="rect">
            <a:avLst/>
          </a:prstGeom>
          <a:solidFill>
            <a:srgbClr val="073A73">
              <a:alpha val="90000"/>
            </a:srgbClr>
          </a:solidFill>
          <a:ln w="12700">
            <a:solidFill>
              <a:srgbClr val="073A7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 rot="1200000">
            <a:off x="7406640" y="-457200"/>
            <a:ext cx="5212080" cy="5212080"/>
          </a:xfrm>
          <a:prstGeom prst="arc">
            <a:avLst/>
          </a:prstGeom>
          <a:solidFill>
            <a:srgbClr val="002D62">
              <a:alpha val="0"/>
            </a:srgbClr>
          </a:solidFill>
          <a:ln w="38100">
            <a:solidFill>
              <a:srgbClr val="5B8296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4" name="Image 0" descr="/mnt/data/work_jama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25780"/>
            <a:ext cx="2194560" cy="5486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5" name="Text 2"/>
          <p:cNvSpPr/>
          <p:nvPr/>
        </p:nvSpPr>
        <p:spPr>
          <a:xfrm>
            <a:off x="685800" y="14173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A2B7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DESARROLLO ORGANIZACIONAL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58368" y="1828800"/>
            <a:ext cx="6903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Diagrama de Flujo de</a:t>
            </a:r>
            <a:endParaRPr lang="en-US" sz="3100" dirty="0"/>
          </a:p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Solicitudes de Vacaciones</a:t>
            </a:r>
            <a:endParaRPr lang="en-US" sz="3100" dirty="0"/>
          </a:p>
        </p:txBody>
      </p:sp>
      <p:sp>
        <p:nvSpPr>
          <p:cNvPr id="7" name="Text 4"/>
          <p:cNvSpPr/>
          <p:nvPr/>
        </p:nvSpPr>
        <p:spPr>
          <a:xfrm>
            <a:off x="685800" y="327355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A2B7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Jerarquía de aprobación, avisos por correo y afectación en nómina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13232" y="4160520"/>
            <a:ext cx="146304" cy="146304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6"/>
          <p:cNvSpPr/>
          <p:nvPr/>
        </p:nvSpPr>
        <p:spPr>
          <a:xfrm>
            <a:off x="987552" y="41056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APROBACIÓN ESCALONADA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" y="4773168"/>
            <a:ext cx="146304" cy="146304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8"/>
          <p:cNvSpPr/>
          <p:nvPr/>
        </p:nvSpPr>
        <p:spPr>
          <a:xfrm>
            <a:off x="987552" y="47183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NOTIFICACIONES SMTP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13232" y="5385816"/>
            <a:ext cx="146304" cy="146304"/>
          </a:xfrm>
          <a:prstGeom prst="ellipse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0"/>
          <p:cNvSpPr/>
          <p:nvPr/>
        </p:nvSpPr>
        <p:spPr>
          <a:xfrm>
            <a:off x="987552" y="533095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GOBERNANZA Y NÓMINA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549640" y="5897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LFT Art. 76  •  Formato FDO-84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2D62"/>
          </a:solidFill>
          <a:ln w="1270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 1 • GOBERNANZA Y JERARQUÍA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2D6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Actores y responsabilidades del flujo</a:t>
            </a:r>
            <a:endParaRPr lang="en-US" sz="2700" dirty="0"/>
          </a:p>
        </p:txBody>
      </p:sp>
      <p:pic>
        <p:nvPicPr>
          <p:cNvPr id="5" name="Image 0" descr="/mnt/data/work_jama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338328"/>
            <a:ext cx="109728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01400" y="6382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B8296"/>
                </a:solidFill>
              </a:rPr>
              <a:t>02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6318504"/>
            <a:ext cx="11155680" cy="1"/>
          </a:xfrm>
          <a:prstGeom prst="line">
            <a:avLst/>
          </a:prstGeom>
          <a:noFill/>
          <a:ln w="1270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2578608" cy="4526280"/>
          </a:xfrm>
          <a:prstGeom prst="roundRect">
            <a:avLst>
              <a:gd name="adj" fmla="val 2837"/>
            </a:avLst>
          </a:prstGeom>
          <a:solidFill>
            <a:srgbClr val="F4F7F9"/>
          </a:solidFill>
          <a:ln w="16510">
            <a:solidFill>
              <a:srgbClr val="A2B7C4"/>
            </a:solidFill>
            <a:prstDash val="solid"/>
          </a:ln>
          <a:effectLst>
            <a:outerShdw blurRad="12700" dist="50800" dir="2700000" algn="bl" rotWithShape="0">
              <a:srgbClr val="B8C5CF">
                <a:alpha val="14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9" name="Shape 6"/>
          <p:cNvSpPr/>
          <p:nvPr/>
        </p:nvSpPr>
        <p:spPr>
          <a:xfrm>
            <a:off x="667512" y="1444752"/>
            <a:ext cx="658368" cy="256032"/>
          </a:xfrm>
          <a:prstGeom prst="roundRect">
            <a:avLst>
              <a:gd name="adj" fmla="val 21429"/>
            </a:avLst>
          </a:prstGeom>
          <a:solidFill>
            <a:srgbClr val="002D62"/>
          </a:solidFill>
          <a:ln w="1270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7"/>
          <p:cNvSpPr/>
          <p:nvPr/>
        </p:nvSpPr>
        <p:spPr>
          <a:xfrm>
            <a:off x="667512" y="1444752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PASO 01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67512" y="184708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Colaborador solicitante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67512" y="234086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Portal del Empleado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85800" y="2825496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1"/>
          <p:cNvSpPr/>
          <p:nvPr/>
        </p:nvSpPr>
        <p:spPr>
          <a:xfrm>
            <a:off x="850392" y="27157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saldo y vigencia LFT.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337560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Text 13"/>
          <p:cNvSpPr/>
          <p:nvPr/>
        </p:nvSpPr>
        <p:spPr>
          <a:xfrm>
            <a:off x="850392" y="32278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 fechas laborables.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3849624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Text 15"/>
          <p:cNvSpPr/>
          <p:nvPr/>
        </p:nvSpPr>
        <p:spPr>
          <a:xfrm>
            <a:off x="850392" y="37398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 el motivo.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361688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Text 17"/>
          <p:cNvSpPr/>
          <p:nvPr/>
        </p:nvSpPr>
        <p:spPr>
          <a:xfrm>
            <a:off x="850392" y="42519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 PENDIENTE_LIDER.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85800" y="4873752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Text 19"/>
          <p:cNvSpPr/>
          <p:nvPr/>
        </p:nvSpPr>
        <p:spPr>
          <a:xfrm>
            <a:off x="850392" y="476402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 días en trámite.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127248" y="3337560"/>
            <a:ext cx="228600" cy="502920"/>
          </a:xfrm>
          <a:prstGeom prst="chevron">
            <a:avLst/>
          </a:prstGeom>
          <a:solidFill>
            <a:srgbClr val="A2B7C4"/>
          </a:solidFill>
          <a:ln w="12700">
            <a:solidFill>
              <a:srgbClr val="A2B7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4" name="Shape 21"/>
          <p:cNvSpPr/>
          <p:nvPr/>
        </p:nvSpPr>
        <p:spPr>
          <a:xfrm>
            <a:off x="3319272" y="1234440"/>
            <a:ext cx="2578608" cy="4526280"/>
          </a:xfrm>
          <a:prstGeom prst="roundRect">
            <a:avLst>
              <a:gd name="adj" fmla="val 2837"/>
            </a:avLst>
          </a:prstGeom>
          <a:solidFill>
            <a:srgbClr val="F4F7F9"/>
          </a:solidFill>
          <a:ln w="16510">
            <a:solidFill>
              <a:srgbClr val="A2B7C4"/>
            </a:solidFill>
            <a:prstDash val="solid"/>
          </a:ln>
          <a:effectLst>
            <a:outerShdw blurRad="12700" dist="50800" dir="2700000" algn="bl" rotWithShape="0">
              <a:srgbClr val="B8C5CF">
                <a:alpha val="14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5" name="Shape 22"/>
          <p:cNvSpPr/>
          <p:nvPr/>
        </p:nvSpPr>
        <p:spPr>
          <a:xfrm>
            <a:off x="3483864" y="1444752"/>
            <a:ext cx="658368" cy="256032"/>
          </a:xfrm>
          <a:prstGeom prst="roundRect">
            <a:avLst>
              <a:gd name="adj" fmla="val 21429"/>
            </a:avLst>
          </a:prstGeom>
          <a:solidFill>
            <a:srgbClr val="002D62"/>
          </a:solidFill>
          <a:ln w="1270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Text 23"/>
          <p:cNvSpPr/>
          <p:nvPr/>
        </p:nvSpPr>
        <p:spPr>
          <a:xfrm>
            <a:off x="3483864" y="1444752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PASO 02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3483864" y="184708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Líder directo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83864" y="234086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Bandeja de autorizaciones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502152" y="2825496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0" name="Text 27"/>
          <p:cNvSpPr/>
          <p:nvPr/>
        </p:nvSpPr>
        <p:spPr>
          <a:xfrm>
            <a:off x="3666744" y="27157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 cobertura operativa.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502152" y="3337560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2" name="Text 29"/>
          <p:cNvSpPr/>
          <p:nvPr/>
        </p:nvSpPr>
        <p:spPr>
          <a:xfrm>
            <a:off x="3666744" y="32278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Aprueba o rechaza con motivo.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3502152" y="3849624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4" name="Text 31"/>
          <p:cNvSpPr/>
          <p:nvPr/>
        </p:nvSpPr>
        <p:spPr>
          <a:xfrm>
            <a:off x="3666744" y="37398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 a gerencia si aplica.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3502152" y="4361688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6" name="Text 33"/>
          <p:cNvSpPr/>
          <p:nvPr/>
        </p:nvSpPr>
        <p:spPr>
          <a:xfrm>
            <a:off x="3666744" y="42519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lo contrario, envía a DO.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502152" y="4873752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8" name="Text 35"/>
          <p:cNvSpPr/>
          <p:nvPr/>
        </p:nvSpPr>
        <p:spPr>
          <a:xfrm>
            <a:off x="3666744" y="476402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descuento definitivo.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5943600" y="3337560"/>
            <a:ext cx="228600" cy="502920"/>
          </a:xfrm>
          <a:prstGeom prst="chevron">
            <a:avLst/>
          </a:prstGeom>
          <a:solidFill>
            <a:srgbClr val="A2B7C4"/>
          </a:solidFill>
          <a:ln w="12700">
            <a:solidFill>
              <a:srgbClr val="A2B7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0" name="Shape 37"/>
          <p:cNvSpPr/>
          <p:nvPr/>
        </p:nvSpPr>
        <p:spPr>
          <a:xfrm>
            <a:off x="6135624" y="1234440"/>
            <a:ext cx="2578608" cy="4526280"/>
          </a:xfrm>
          <a:prstGeom prst="roundRect">
            <a:avLst>
              <a:gd name="adj" fmla="val 2837"/>
            </a:avLst>
          </a:prstGeom>
          <a:solidFill>
            <a:srgbClr val="F4F7F9"/>
          </a:solidFill>
          <a:ln w="16510">
            <a:solidFill>
              <a:srgbClr val="A2B7C4"/>
            </a:solidFill>
            <a:prstDash val="solid"/>
          </a:ln>
          <a:effectLst>
            <a:outerShdw blurRad="12700" dist="50800" dir="2700000" algn="bl" rotWithShape="0">
              <a:srgbClr val="B8C5CF">
                <a:alpha val="14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41" name="Shape 38"/>
          <p:cNvSpPr/>
          <p:nvPr/>
        </p:nvSpPr>
        <p:spPr>
          <a:xfrm>
            <a:off x="6300216" y="1444752"/>
            <a:ext cx="658368" cy="256032"/>
          </a:xfrm>
          <a:prstGeom prst="roundRect">
            <a:avLst>
              <a:gd name="adj" fmla="val 21429"/>
            </a:avLst>
          </a:prstGeom>
          <a:solidFill>
            <a:srgbClr val="002D62"/>
          </a:solidFill>
          <a:ln w="1270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2" name="Text 39"/>
          <p:cNvSpPr/>
          <p:nvPr/>
        </p:nvSpPr>
        <p:spPr>
          <a:xfrm>
            <a:off x="6300216" y="1444752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PASO 03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300216" y="184708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Gerente de sucursal / planta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6300216" y="234086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Segundo nivel condicional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6318504" y="2825496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6" name="Text 43"/>
          <p:cNvSpPr/>
          <p:nvPr/>
        </p:nvSpPr>
        <p:spPr>
          <a:xfrm>
            <a:off x="6483096" y="27157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 autorización previa.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18504" y="3337560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8" name="Text 45"/>
          <p:cNvSpPr/>
          <p:nvPr/>
        </p:nvSpPr>
        <p:spPr>
          <a:xfrm>
            <a:off x="6483096" y="32278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Aprueba hacia PENDIENTE_DO.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6318504" y="3849624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0" name="Text 47"/>
          <p:cNvSpPr/>
          <p:nvPr/>
        </p:nvSpPr>
        <p:spPr>
          <a:xfrm>
            <a:off x="6483096" y="37398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Rechaza con motivo obligatorio.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6318504" y="4361688"/>
            <a:ext cx="82296" cy="82296"/>
          </a:xfrm>
          <a:prstGeom prst="ellipse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2" name="Text 49"/>
          <p:cNvSpPr/>
          <p:nvPr/>
        </p:nvSpPr>
        <p:spPr>
          <a:xfrm>
            <a:off x="6483096" y="42519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Confirma escalamiento.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8759952" y="3337560"/>
            <a:ext cx="228600" cy="502920"/>
          </a:xfrm>
          <a:prstGeom prst="chevron">
            <a:avLst/>
          </a:prstGeom>
          <a:solidFill>
            <a:srgbClr val="A2B7C4"/>
          </a:solidFill>
          <a:ln w="12700">
            <a:solidFill>
              <a:srgbClr val="A2B7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4" name="Shape 51"/>
          <p:cNvSpPr/>
          <p:nvPr/>
        </p:nvSpPr>
        <p:spPr>
          <a:xfrm>
            <a:off x="8951976" y="1234440"/>
            <a:ext cx="2578608" cy="4526280"/>
          </a:xfrm>
          <a:prstGeom prst="roundRect">
            <a:avLst>
              <a:gd name="adj" fmla="val 2837"/>
            </a:avLst>
          </a:prstGeom>
          <a:solidFill>
            <a:srgbClr val="EDF7F3"/>
          </a:solidFill>
          <a:ln w="16510">
            <a:solidFill>
              <a:srgbClr val="2F8F78"/>
            </a:solidFill>
            <a:prstDash val="solid"/>
          </a:ln>
          <a:effectLst>
            <a:outerShdw blurRad="12700" dist="50800" dir="2700000" algn="bl" rotWithShape="0">
              <a:srgbClr val="B8C5CF">
                <a:alpha val="14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55" name="Shape 52"/>
          <p:cNvSpPr/>
          <p:nvPr/>
        </p:nvSpPr>
        <p:spPr>
          <a:xfrm>
            <a:off x="9116568" y="1444752"/>
            <a:ext cx="658368" cy="256032"/>
          </a:xfrm>
          <a:prstGeom prst="roundRect">
            <a:avLst>
              <a:gd name="adj" fmla="val 21429"/>
            </a:avLst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6" name="Text 53"/>
          <p:cNvSpPr/>
          <p:nvPr/>
        </p:nvSpPr>
        <p:spPr>
          <a:xfrm>
            <a:off x="9116568" y="1444752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PASO 04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9116568" y="184708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Desarrollo Organizacional</a:t>
            </a:r>
            <a:endParaRPr lang="en-US" sz="1600" dirty="0"/>
          </a:p>
        </p:txBody>
      </p:sp>
      <p:sp>
        <p:nvSpPr>
          <p:cNvPr id="58" name="Text 55"/>
          <p:cNvSpPr/>
          <p:nvPr/>
        </p:nvSpPr>
        <p:spPr>
          <a:xfrm>
            <a:off x="9116568" y="234086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2F8F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Gobernanza centralizada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9134856" y="2825496"/>
            <a:ext cx="82296" cy="82296"/>
          </a:xfrm>
          <a:prstGeom prst="ellipse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0" name="Text 57"/>
          <p:cNvSpPr/>
          <p:nvPr/>
        </p:nvSpPr>
        <p:spPr>
          <a:xfrm>
            <a:off x="9299448" y="27157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 “VoBo DO Pendiente”.</a:t>
            </a:r>
            <a:endParaRPr lang="en-US" sz="1050" dirty="0"/>
          </a:p>
        </p:txBody>
      </p:sp>
      <p:sp>
        <p:nvSpPr>
          <p:cNvPr id="61" name="Shape 58"/>
          <p:cNvSpPr/>
          <p:nvPr/>
        </p:nvSpPr>
        <p:spPr>
          <a:xfrm>
            <a:off x="9134856" y="3337560"/>
            <a:ext cx="82296" cy="82296"/>
          </a:xfrm>
          <a:prstGeom prst="ellipse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2" name="Text 59"/>
          <p:cNvSpPr/>
          <p:nvPr/>
        </p:nvSpPr>
        <p:spPr>
          <a:xfrm>
            <a:off x="9299448" y="32278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 nómina e incidencias.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134856" y="3849624"/>
            <a:ext cx="82296" cy="82296"/>
          </a:xfrm>
          <a:prstGeom prst="ellipse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4" name="Text 61"/>
          <p:cNvSpPr/>
          <p:nvPr/>
        </p:nvSpPr>
        <p:spPr>
          <a:xfrm>
            <a:off x="9299448" y="37398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Emite el visto bueno final.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9134856" y="4361688"/>
            <a:ext cx="82296" cy="82296"/>
          </a:xfrm>
          <a:prstGeom prst="ellipse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6" name="Text 63"/>
          <p:cNvSpPr/>
          <p:nvPr/>
        </p:nvSpPr>
        <p:spPr>
          <a:xfrm>
            <a:off x="9299448" y="42519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PEPS.</a:t>
            </a:r>
            <a:endParaRPr lang="en-US" sz="1050" dirty="0"/>
          </a:p>
        </p:txBody>
      </p:sp>
      <p:sp>
        <p:nvSpPr>
          <p:cNvPr id="67" name="Shape 64"/>
          <p:cNvSpPr/>
          <p:nvPr/>
        </p:nvSpPr>
        <p:spPr>
          <a:xfrm>
            <a:off x="9134856" y="4873752"/>
            <a:ext cx="82296" cy="82296"/>
          </a:xfrm>
          <a:prstGeom prst="ellipse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8" name="Text 65"/>
          <p:cNvSpPr/>
          <p:nvPr/>
        </p:nvSpPr>
        <p:spPr>
          <a:xfrm>
            <a:off x="9299448" y="476402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Sella el formato FDO-84.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2D62"/>
          </a:solidFill>
          <a:ln w="1270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 2 • DIAGRAMA DE ESTADOS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2D6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Ciclo de vida de la solicitud</a:t>
            </a:r>
            <a:endParaRPr lang="en-US" sz="2700" dirty="0"/>
          </a:p>
        </p:txBody>
      </p:sp>
      <p:pic>
        <p:nvPicPr>
          <p:cNvPr id="5" name="Image 0" descr="/mnt/data/work_jama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338328"/>
            <a:ext cx="109728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01400" y="6382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B8296"/>
                </a:solidFill>
              </a:rPr>
              <a:t>03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6318504"/>
            <a:ext cx="11155680" cy="1"/>
          </a:xfrm>
          <a:prstGeom prst="line">
            <a:avLst/>
          </a:prstGeom>
          <a:noFill/>
          <a:ln w="1270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Shape 5"/>
          <p:cNvSpPr/>
          <p:nvPr/>
        </p:nvSpPr>
        <p:spPr>
          <a:xfrm>
            <a:off x="502920" y="1481328"/>
            <a:ext cx="1965960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2159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6"/>
          <p:cNvSpPr/>
          <p:nvPr/>
        </p:nvSpPr>
        <p:spPr>
          <a:xfrm>
            <a:off x="640080" y="166420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Solicitud creada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30936" y="1993392"/>
            <a:ext cx="170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PENDIENTE_LIDER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Días reservados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542032" y="1810512"/>
            <a:ext cx="256032" cy="384048"/>
          </a:xfrm>
          <a:prstGeom prst="chevron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Shape 9"/>
          <p:cNvSpPr/>
          <p:nvPr/>
        </p:nvSpPr>
        <p:spPr>
          <a:xfrm>
            <a:off x="2788920" y="1481328"/>
            <a:ext cx="2103120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2159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0"/>
          <p:cNvSpPr/>
          <p:nvPr/>
        </p:nvSpPr>
        <p:spPr>
          <a:xfrm>
            <a:off x="2926080" y="1664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Revisión de jefatura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916936" y="1993392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Evalúa cobertura y ausencias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965192" y="1810512"/>
            <a:ext cx="256032" cy="384048"/>
          </a:xfrm>
          <a:prstGeom prst="chevron">
            <a:avLst/>
          </a:prstGeom>
          <a:solidFill>
            <a:srgbClr val="5B8296"/>
          </a:solidFill>
          <a:ln w="1270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3"/>
          <p:cNvSpPr/>
          <p:nvPr/>
        </p:nvSpPr>
        <p:spPr>
          <a:xfrm>
            <a:off x="5257800" y="1481328"/>
            <a:ext cx="2057400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21590">
            <a:solidFill>
              <a:srgbClr val="5B829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4"/>
          <p:cNvSpPr/>
          <p:nvPr/>
        </p:nvSpPr>
        <p:spPr>
          <a:xfrm>
            <a:off x="5394960" y="16642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¿Requiere 2.º nivel?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385816" y="1993392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Sí: PENDIENTE_GERENTE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No: pasa a DO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388352" y="1810512"/>
            <a:ext cx="256032" cy="384048"/>
          </a:xfrm>
          <a:prstGeom prst="chevron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Shape 17"/>
          <p:cNvSpPr/>
          <p:nvPr/>
        </p:nvSpPr>
        <p:spPr>
          <a:xfrm>
            <a:off x="7680960" y="1481328"/>
            <a:ext cx="1874520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2159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8"/>
          <p:cNvSpPr/>
          <p:nvPr/>
        </p:nvSpPr>
        <p:spPr>
          <a:xfrm>
            <a:off x="7818120" y="16642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8F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Vo.Bo. DO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808976" y="1993392"/>
            <a:ext cx="161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PENDIENTE_DO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Resolución final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9628632" y="1810512"/>
            <a:ext cx="256032" cy="384048"/>
          </a:xfrm>
          <a:prstGeom prst="chevron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4" name="Shape 21"/>
          <p:cNvSpPr/>
          <p:nvPr/>
        </p:nvSpPr>
        <p:spPr>
          <a:xfrm>
            <a:off x="9921240" y="1481328"/>
            <a:ext cx="1737360" cy="1078992"/>
          </a:xfrm>
          <a:prstGeom prst="roundRect">
            <a:avLst>
              <a:gd name="adj" fmla="val 5932"/>
            </a:avLst>
          </a:prstGeom>
          <a:solidFill>
            <a:srgbClr val="E7F4EF"/>
          </a:solidFill>
          <a:ln w="2159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Text 22"/>
          <p:cNvSpPr/>
          <p:nvPr/>
        </p:nvSpPr>
        <p:spPr>
          <a:xfrm>
            <a:off x="10058400" y="16642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8F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APROBADA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0049256" y="19933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PEPS + FDO-84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840480" y="2560320"/>
            <a:ext cx="1" cy="594360"/>
          </a:xfrm>
          <a:prstGeom prst="line">
            <a:avLst/>
          </a:prstGeom>
          <a:noFill/>
          <a:ln w="25400">
            <a:solidFill>
              <a:srgbClr val="C84A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MX"/>
          </a:p>
        </p:txBody>
      </p:sp>
      <p:sp>
        <p:nvSpPr>
          <p:cNvPr id="28" name="Shape 25"/>
          <p:cNvSpPr/>
          <p:nvPr/>
        </p:nvSpPr>
        <p:spPr>
          <a:xfrm>
            <a:off x="2907792" y="3218688"/>
            <a:ext cx="1874520" cy="804672"/>
          </a:xfrm>
          <a:prstGeom prst="roundRect">
            <a:avLst>
              <a:gd name="adj" fmla="val 6818"/>
            </a:avLst>
          </a:prstGeom>
          <a:solidFill>
            <a:srgbClr val="FFF3F3"/>
          </a:solidFill>
          <a:ln w="17780">
            <a:solidFill>
              <a:srgbClr val="C84A4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 26"/>
          <p:cNvSpPr/>
          <p:nvPr/>
        </p:nvSpPr>
        <p:spPr>
          <a:xfrm>
            <a:off x="3063240" y="33832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RECHAZADA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3044952" y="3639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Motivo registrado y días liberados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58368" y="4617720"/>
            <a:ext cx="10881360" cy="1078992"/>
          </a:xfrm>
          <a:prstGeom prst="roundRect">
            <a:avLst>
              <a:gd name="adj" fmla="val 6780"/>
            </a:avLst>
          </a:prstGeom>
          <a:solidFill>
            <a:srgbClr val="FFF8DD"/>
          </a:solidFill>
          <a:ln w="15240">
            <a:solidFill>
              <a:srgbClr val="D39A2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2" name="Shape 29"/>
          <p:cNvSpPr/>
          <p:nvPr/>
        </p:nvSpPr>
        <p:spPr>
          <a:xfrm>
            <a:off x="886968" y="4828032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D39A22"/>
          </a:solidFill>
          <a:ln w="12700">
            <a:solidFill>
              <a:srgbClr val="D39A2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3" name="Text 30"/>
          <p:cNvSpPr/>
          <p:nvPr/>
        </p:nvSpPr>
        <p:spPr>
          <a:xfrm>
            <a:off x="886968" y="482803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DE GOBERNANZA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2697480" y="4773168"/>
            <a:ext cx="8458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Ninguna solicitud se considera aprobada ni descuenta saldos en CONTPAQi hasta el visto bueno final de Desarrollo Organizacional. Mientras tanto, permanece en “VoBo DO Pendiente”.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2D62"/>
          </a:solidFill>
          <a:ln w="1270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 3 • NOTIFICACIONES SMTP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2D6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Matriz de avisos por correo electrónico</a:t>
            </a:r>
            <a:endParaRPr lang="en-US" sz="2700" dirty="0"/>
          </a:p>
        </p:txBody>
      </p:sp>
      <p:pic>
        <p:nvPicPr>
          <p:cNvPr id="5" name="Image 0" descr="/mnt/data/work_jama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338328"/>
            <a:ext cx="109728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01400" y="6382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B8296"/>
                </a:solidFill>
              </a:rPr>
              <a:t>04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6318504"/>
            <a:ext cx="11155680" cy="1"/>
          </a:xfrm>
          <a:prstGeom prst="line">
            <a:avLst/>
          </a:prstGeom>
          <a:noFill/>
          <a:ln w="1270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Shape 5"/>
          <p:cNvSpPr/>
          <p:nvPr/>
        </p:nvSpPr>
        <p:spPr>
          <a:xfrm>
            <a:off x="502920" y="1280160"/>
            <a:ext cx="457200" cy="475488"/>
          </a:xfrm>
          <a:prstGeom prst="rect">
            <a:avLst/>
          </a:prstGeom>
          <a:solidFill>
            <a:srgbClr val="002D62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6"/>
          <p:cNvSpPr/>
          <p:nvPr/>
        </p:nvSpPr>
        <p:spPr>
          <a:xfrm>
            <a:off x="576072" y="1371600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60120" y="1280160"/>
            <a:ext cx="2194560" cy="475488"/>
          </a:xfrm>
          <a:prstGeom prst="rect">
            <a:avLst/>
          </a:prstGeom>
          <a:solidFill>
            <a:srgbClr val="002D62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8"/>
          <p:cNvSpPr/>
          <p:nvPr/>
        </p:nvSpPr>
        <p:spPr>
          <a:xfrm>
            <a:off x="1033272" y="1371600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Evento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1783080" cy="475488"/>
          </a:xfrm>
          <a:prstGeom prst="rect">
            <a:avLst/>
          </a:prstGeom>
          <a:solidFill>
            <a:srgbClr val="002D62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0"/>
          <p:cNvSpPr/>
          <p:nvPr/>
        </p:nvSpPr>
        <p:spPr>
          <a:xfrm>
            <a:off x="3273552" y="1371600"/>
            <a:ext cx="1636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Disparador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029200" y="1280160"/>
            <a:ext cx="1755648" cy="475488"/>
          </a:xfrm>
          <a:prstGeom prst="rect">
            <a:avLst/>
          </a:prstGeom>
          <a:solidFill>
            <a:srgbClr val="002D62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2"/>
          <p:cNvSpPr/>
          <p:nvPr/>
        </p:nvSpPr>
        <p:spPr>
          <a:xfrm>
            <a:off x="5102352" y="137160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Destinatarios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784848" y="1280160"/>
            <a:ext cx="3429000" cy="475488"/>
          </a:xfrm>
          <a:prstGeom prst="rect">
            <a:avLst/>
          </a:prstGeom>
          <a:solidFill>
            <a:srgbClr val="002D62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4"/>
          <p:cNvSpPr/>
          <p:nvPr/>
        </p:nvSpPr>
        <p:spPr>
          <a:xfrm>
            <a:off x="6858000" y="1371600"/>
            <a:ext cx="328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Contenido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0241280" y="1280160"/>
            <a:ext cx="1417320" cy="475488"/>
          </a:xfrm>
          <a:prstGeom prst="rect">
            <a:avLst/>
          </a:prstGeom>
          <a:solidFill>
            <a:srgbClr val="002D62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Text 16"/>
          <p:cNvSpPr/>
          <p:nvPr/>
        </p:nvSpPr>
        <p:spPr>
          <a:xfrm>
            <a:off x="10314432" y="1371600"/>
            <a:ext cx="1271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FDO-84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02920" y="1755648"/>
            <a:ext cx="45720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8"/>
          <p:cNvSpPr/>
          <p:nvPr/>
        </p:nvSpPr>
        <p:spPr>
          <a:xfrm>
            <a:off x="576072" y="1865376"/>
            <a:ext cx="310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60120" y="1755648"/>
            <a:ext cx="219456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Text 20"/>
          <p:cNvSpPr/>
          <p:nvPr/>
        </p:nvSpPr>
        <p:spPr>
          <a:xfrm>
            <a:off x="1033272" y="1865376"/>
            <a:ext cx="20482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de solicitud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200400" y="1755648"/>
            <a:ext cx="178308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Text 22"/>
          <p:cNvSpPr/>
          <p:nvPr/>
        </p:nvSpPr>
        <p:spPr>
          <a:xfrm>
            <a:off x="3273552" y="1865376"/>
            <a:ext cx="1636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enviar el trámite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029200" y="1755648"/>
            <a:ext cx="1755648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7" name="Text 24"/>
          <p:cNvSpPr/>
          <p:nvPr/>
        </p:nvSpPr>
        <p:spPr>
          <a:xfrm>
            <a:off x="5102352" y="1865376"/>
            <a:ext cx="1609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Jefe inmediato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784848" y="1755648"/>
            <a:ext cx="342900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 26"/>
          <p:cNvSpPr/>
          <p:nvPr/>
        </p:nvSpPr>
        <p:spPr>
          <a:xfrm>
            <a:off x="6858000" y="1865376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Nueva solicitud, fechas, días y acceso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10241280" y="1755648"/>
            <a:ext cx="14173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1" name="Text 28"/>
          <p:cNvSpPr/>
          <p:nvPr/>
        </p:nvSpPr>
        <p:spPr>
          <a:xfrm>
            <a:off x="10314432" y="1865376"/>
            <a:ext cx="1271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Borrador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02920" y="2596896"/>
            <a:ext cx="457200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3" name="Text 30"/>
          <p:cNvSpPr/>
          <p:nvPr/>
        </p:nvSpPr>
        <p:spPr>
          <a:xfrm>
            <a:off x="576072" y="2706624"/>
            <a:ext cx="310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60120" y="2596896"/>
            <a:ext cx="2194560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5" name="Text 32"/>
          <p:cNvSpPr/>
          <p:nvPr/>
        </p:nvSpPr>
        <p:spPr>
          <a:xfrm>
            <a:off x="1033272" y="2706624"/>
            <a:ext cx="20482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Escalamiento gerencial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200400" y="2596896"/>
            <a:ext cx="1783080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7" name="Text 34"/>
          <p:cNvSpPr/>
          <p:nvPr/>
        </p:nvSpPr>
        <p:spPr>
          <a:xfrm>
            <a:off x="3273552" y="2706624"/>
            <a:ext cx="1636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Tras aprobación N1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29200" y="2596896"/>
            <a:ext cx="1755648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9" name="Text 36"/>
          <p:cNvSpPr/>
          <p:nvPr/>
        </p:nvSpPr>
        <p:spPr>
          <a:xfrm>
            <a:off x="5102352" y="2706624"/>
            <a:ext cx="1609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Gerente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784848" y="2596896"/>
            <a:ext cx="3429000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1" name="Text 38"/>
          <p:cNvSpPr/>
          <p:nvPr/>
        </p:nvSpPr>
        <p:spPr>
          <a:xfrm>
            <a:off x="6858000" y="2706624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Requiere autorización de gerencia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10241280" y="2596896"/>
            <a:ext cx="1417320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3" name="Text 40"/>
          <p:cNvSpPr/>
          <p:nvPr/>
        </p:nvSpPr>
        <p:spPr>
          <a:xfrm>
            <a:off x="10314432" y="2706624"/>
            <a:ext cx="1271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Sello N1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502920" y="3438144"/>
            <a:ext cx="45720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5" name="Text 42"/>
          <p:cNvSpPr/>
          <p:nvPr/>
        </p:nvSpPr>
        <p:spPr>
          <a:xfrm>
            <a:off x="576072" y="3547872"/>
            <a:ext cx="310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960120" y="3438144"/>
            <a:ext cx="219456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7" name="Text 44"/>
          <p:cNvSpPr/>
          <p:nvPr/>
        </p:nvSpPr>
        <p:spPr>
          <a:xfrm>
            <a:off x="1033272" y="3547872"/>
            <a:ext cx="20482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Pase a Vo.Bo. DO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3200400" y="3438144"/>
            <a:ext cx="178308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9" name="Text 46"/>
          <p:cNvSpPr/>
          <p:nvPr/>
        </p:nvSpPr>
        <p:spPr>
          <a:xfrm>
            <a:off x="3273552" y="3547872"/>
            <a:ext cx="1636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Tras último nivel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029200" y="3438144"/>
            <a:ext cx="1755648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1" name="Text 48"/>
          <p:cNvSpPr/>
          <p:nvPr/>
        </p:nvSpPr>
        <p:spPr>
          <a:xfrm>
            <a:off x="5102352" y="3547872"/>
            <a:ext cx="1609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Administración DO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6784848" y="3438144"/>
            <a:ext cx="342900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3" name="Text 50"/>
          <p:cNvSpPr/>
          <p:nvPr/>
        </p:nvSpPr>
        <p:spPr>
          <a:xfrm>
            <a:off x="6858000" y="3547872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Listo para revisión y nómina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10241280" y="3438144"/>
            <a:ext cx="14173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5" name="Text 52"/>
          <p:cNvSpPr/>
          <p:nvPr/>
        </p:nvSpPr>
        <p:spPr>
          <a:xfrm>
            <a:off x="10314432" y="3547872"/>
            <a:ext cx="1271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Sellos jerárquicos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502920" y="4279392"/>
            <a:ext cx="457200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7" name="Text 54"/>
          <p:cNvSpPr/>
          <p:nvPr/>
        </p:nvSpPr>
        <p:spPr>
          <a:xfrm>
            <a:off x="576072" y="4389120"/>
            <a:ext cx="310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960120" y="4279392"/>
            <a:ext cx="2194560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9" name="Text 56"/>
          <p:cNvSpPr/>
          <p:nvPr/>
        </p:nvSpPr>
        <p:spPr>
          <a:xfrm>
            <a:off x="1033272" y="4389120"/>
            <a:ext cx="20482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Conclusión y Vo.Bo.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3200400" y="4279392"/>
            <a:ext cx="1783080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1" name="Text 58"/>
          <p:cNvSpPr/>
          <p:nvPr/>
        </p:nvSpPr>
        <p:spPr>
          <a:xfrm>
            <a:off x="3273552" y="4389120"/>
            <a:ext cx="1636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Tras validación DO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029200" y="4279392"/>
            <a:ext cx="1755648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3" name="Text 60"/>
          <p:cNvSpPr/>
          <p:nvPr/>
        </p:nvSpPr>
        <p:spPr>
          <a:xfrm>
            <a:off x="5102352" y="4389120"/>
            <a:ext cx="1609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Colaborador + responsables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784848" y="4279392"/>
            <a:ext cx="3429000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5" name="Text 62"/>
          <p:cNvSpPr/>
          <p:nvPr/>
        </p:nvSpPr>
        <p:spPr>
          <a:xfrm>
            <a:off x="6858000" y="4389120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Confirmación, saldo y reincorporación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10241280" y="4279392"/>
            <a:ext cx="1417320" cy="841248"/>
          </a:xfrm>
          <a:prstGeom prst="rect">
            <a:avLst/>
          </a:prstGeom>
          <a:solidFill>
            <a:srgbClr val="F4F7F9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7" name="Text 64"/>
          <p:cNvSpPr/>
          <p:nvPr/>
        </p:nvSpPr>
        <p:spPr>
          <a:xfrm>
            <a:off x="10314432" y="4389120"/>
            <a:ext cx="1271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Oficial</a:t>
            </a:r>
            <a:endParaRPr lang="en-US" sz="950" dirty="0"/>
          </a:p>
        </p:txBody>
      </p:sp>
      <p:sp>
        <p:nvSpPr>
          <p:cNvPr id="68" name="Shape 65"/>
          <p:cNvSpPr/>
          <p:nvPr/>
        </p:nvSpPr>
        <p:spPr>
          <a:xfrm>
            <a:off x="502920" y="5120640"/>
            <a:ext cx="45720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9" name="Text 66"/>
          <p:cNvSpPr/>
          <p:nvPr/>
        </p:nvSpPr>
        <p:spPr>
          <a:xfrm>
            <a:off x="576072" y="5230368"/>
            <a:ext cx="310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</a:t>
            </a:r>
            <a:endParaRPr lang="en-US" sz="1200" dirty="0"/>
          </a:p>
        </p:txBody>
      </p:sp>
      <p:sp>
        <p:nvSpPr>
          <p:cNvPr id="70" name="Shape 67"/>
          <p:cNvSpPr/>
          <p:nvPr/>
        </p:nvSpPr>
        <p:spPr>
          <a:xfrm>
            <a:off x="960120" y="5120640"/>
            <a:ext cx="219456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1" name="Text 68"/>
          <p:cNvSpPr/>
          <p:nvPr/>
        </p:nvSpPr>
        <p:spPr>
          <a:xfrm>
            <a:off x="1033272" y="5230368"/>
            <a:ext cx="20482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Rechazo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3200400" y="5120640"/>
            <a:ext cx="178308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3" name="Text 70"/>
          <p:cNvSpPr/>
          <p:nvPr/>
        </p:nvSpPr>
        <p:spPr>
          <a:xfrm>
            <a:off x="3273552" y="5230368"/>
            <a:ext cx="1636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cualquier nivel</a:t>
            </a:r>
            <a:endParaRPr lang="en-US" sz="950" dirty="0"/>
          </a:p>
        </p:txBody>
      </p:sp>
      <p:sp>
        <p:nvSpPr>
          <p:cNvPr id="74" name="Shape 71"/>
          <p:cNvSpPr/>
          <p:nvPr/>
        </p:nvSpPr>
        <p:spPr>
          <a:xfrm>
            <a:off x="5029200" y="5120640"/>
            <a:ext cx="1755648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5" name="Text 72"/>
          <p:cNvSpPr/>
          <p:nvPr/>
        </p:nvSpPr>
        <p:spPr>
          <a:xfrm>
            <a:off x="5102352" y="5230368"/>
            <a:ext cx="16093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Colaborador</a:t>
            </a:r>
            <a:endParaRPr lang="en-US" sz="950" dirty="0"/>
          </a:p>
        </p:txBody>
      </p:sp>
      <p:sp>
        <p:nvSpPr>
          <p:cNvPr id="76" name="Shape 73"/>
          <p:cNvSpPr/>
          <p:nvPr/>
        </p:nvSpPr>
        <p:spPr>
          <a:xfrm>
            <a:off x="6784848" y="5120640"/>
            <a:ext cx="342900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7" name="Text 74"/>
          <p:cNvSpPr/>
          <p:nvPr/>
        </p:nvSpPr>
        <p:spPr>
          <a:xfrm>
            <a:off x="6858000" y="5230368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Motivo y reintegro de días</a:t>
            </a:r>
            <a:endParaRPr lang="en-US" sz="950" dirty="0"/>
          </a:p>
        </p:txBody>
      </p:sp>
      <p:sp>
        <p:nvSpPr>
          <p:cNvPr id="78" name="Shape 75"/>
          <p:cNvSpPr/>
          <p:nvPr/>
        </p:nvSpPr>
        <p:spPr>
          <a:xfrm>
            <a:off x="10241280" y="5120640"/>
            <a:ext cx="14173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9" name="Text 76"/>
          <p:cNvSpPr/>
          <p:nvPr/>
        </p:nvSpPr>
        <p:spPr>
          <a:xfrm>
            <a:off x="10314432" y="5230368"/>
            <a:ext cx="1271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Cancelado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2D62"/>
          </a:solidFill>
          <a:ln w="1270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 4 • REGULACIÓN Y FORMATO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2D6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Cumplimiento LFT y estructura FDO-84</a:t>
            </a:r>
            <a:endParaRPr lang="en-US" sz="2700" dirty="0"/>
          </a:p>
        </p:txBody>
      </p:sp>
      <p:pic>
        <p:nvPicPr>
          <p:cNvPr id="5" name="Image 0" descr="/mnt/data/work_jama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338328"/>
            <a:ext cx="109728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01400" y="6382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B8296"/>
                </a:solidFill>
              </a:rPr>
              <a:t>05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6318504"/>
            <a:ext cx="11155680" cy="1"/>
          </a:xfrm>
          <a:prstGeom prst="line">
            <a:avLst/>
          </a:prstGeom>
          <a:noFill/>
          <a:ln w="1270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F4F7F9"/>
          </a:solidFill>
          <a:ln w="15240">
            <a:solidFill>
              <a:srgbClr val="A2B7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Shape 6"/>
          <p:cNvSpPr/>
          <p:nvPr/>
        </p:nvSpPr>
        <p:spPr>
          <a:xfrm>
            <a:off x="777240" y="150876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002D62"/>
          </a:solidFill>
          <a:ln w="1270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7"/>
          <p:cNvSpPr/>
          <p:nvPr/>
        </p:nvSpPr>
        <p:spPr>
          <a:xfrm>
            <a:off x="777240" y="15087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MARCO NORMATIVO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77240" y="19019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Vacaciones dignas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04672" y="242316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Artículo 76 LFT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57400" y="2404872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Mínimo de 12 días laborables en el primer año; incrementos conforme a la ley.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4672" y="3172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Días hábiles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57400" y="315468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Cómputo según jornada, excluyendo descansos y festivos aplicables.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4672" y="39227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PEPS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57400" y="390448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Descuento primero del periodo de saldo más antiguo.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04672" y="467258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Reincorporación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57400" y="4654296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 día hábil posterior al periodo vacacional.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99632" y="123444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EDF7F3"/>
          </a:solidFill>
          <a:ln w="1524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Shape 18"/>
          <p:cNvSpPr/>
          <p:nvPr/>
        </p:nvSpPr>
        <p:spPr>
          <a:xfrm>
            <a:off x="6473952" y="150876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Text 19"/>
          <p:cNvSpPr/>
          <p:nvPr/>
        </p:nvSpPr>
        <p:spPr>
          <a:xfrm>
            <a:off x="6473952" y="15087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 FDO-84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473952" y="19019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F8F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 oficial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473952" y="2414016"/>
            <a:ext cx="329184" cy="329184"/>
          </a:xfrm>
          <a:prstGeom prst="ellipse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Text 22"/>
          <p:cNvSpPr/>
          <p:nvPr/>
        </p:nvSpPr>
        <p:spPr>
          <a:xfrm>
            <a:off x="6473952" y="2432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967728" y="2395728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del trabajador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522208" y="23774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Nombre, nómina, puesto, empresa, planta y sucursal.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6473952" y="3172968"/>
            <a:ext cx="329184" cy="329184"/>
          </a:xfrm>
          <a:prstGeom prst="ellipse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 26"/>
          <p:cNvSpPr/>
          <p:nvPr/>
        </p:nvSpPr>
        <p:spPr>
          <a:xfrm>
            <a:off x="6473952" y="3191256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967728" y="3154680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Ejercicio y saldos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522208" y="31363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Antigüedad, días por ley, gozados, solicitados y remanente.</a:t>
            </a:r>
            <a:endParaRPr lang="en-US" sz="1020" dirty="0"/>
          </a:p>
        </p:txBody>
      </p:sp>
      <p:sp>
        <p:nvSpPr>
          <p:cNvPr id="32" name="Shape 29"/>
          <p:cNvSpPr/>
          <p:nvPr/>
        </p:nvSpPr>
        <p:spPr>
          <a:xfrm>
            <a:off x="6473952" y="3931920"/>
            <a:ext cx="329184" cy="329184"/>
          </a:xfrm>
          <a:prstGeom prst="ellipse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3" name="Text 30"/>
          <p:cNvSpPr/>
          <p:nvPr/>
        </p:nvSpPr>
        <p:spPr>
          <a:xfrm>
            <a:off x="6473952" y="395020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967728" y="3913632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Periodo programado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522208" y="389534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Desde, hasta, total hábil y fecha de reincorporación.</a:t>
            </a:r>
            <a:endParaRPr lang="en-US" sz="1020" dirty="0"/>
          </a:p>
        </p:txBody>
      </p:sp>
      <p:sp>
        <p:nvSpPr>
          <p:cNvPr id="36" name="Shape 33"/>
          <p:cNvSpPr/>
          <p:nvPr/>
        </p:nvSpPr>
        <p:spPr>
          <a:xfrm>
            <a:off x="6473952" y="4690872"/>
            <a:ext cx="329184" cy="329184"/>
          </a:xfrm>
          <a:prstGeom prst="ellipse">
            <a:avLst/>
          </a:prstGeom>
          <a:solidFill>
            <a:srgbClr val="2F8F78"/>
          </a:solidFill>
          <a:ln w="12700">
            <a:solidFill>
              <a:srgbClr val="2F8F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7" name="Text 34"/>
          <p:cNvSpPr/>
          <p:nvPr/>
        </p:nvSpPr>
        <p:spPr>
          <a:xfrm>
            <a:off x="6473952" y="470916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6967728" y="4672584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2D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Autorizaciones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8522208" y="465429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Trabajador, jefatura, gerencia si aplica y validación DO.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2D62"/>
          </a:solidFill>
          <a:ln w="1270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 5 · ACTUALIZACIÓN DE SALDOS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002D6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opera la actualización automática?</a:t>
            </a:r>
            <a:endParaRPr lang="en-US" sz="2700"/>
          </a:p>
        </p:txBody>
      </p:sp>
      <p:pic>
        <p:nvPicPr>
          <p:cNvPr id="5" name="Image 0" descr="/mnt/data/work_jama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338328"/>
            <a:ext cx="109728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01400" y="6382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5B8296"/>
                </a:solidFill>
              </a:rPr>
              <a:t>06</a:t>
            </a:r>
            <a:endParaRPr lang="en-US" sz="800"/>
          </a:p>
        </p:txBody>
      </p:sp>
      <p:sp>
        <p:nvSpPr>
          <p:cNvPr id="7" name="Shape 4"/>
          <p:cNvSpPr/>
          <p:nvPr/>
        </p:nvSpPr>
        <p:spPr>
          <a:xfrm>
            <a:off x="502920" y="6318504"/>
            <a:ext cx="11155680" cy="1"/>
          </a:xfrm>
          <a:prstGeom prst="line">
            <a:avLst/>
          </a:prstGeom>
          <a:noFill/>
          <a:ln w="1270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11155680" cy="749808"/>
          </a:xfrm>
          <a:prstGeom prst="rect">
            <a:avLst/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862072"/>
            <a:ext cx="3547872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02D62"/>
                </a:solidFill>
                <a:latin typeface="Aptos"/>
              </a:defRPr>
            </a:pPr>
            <a:r>
              <a:t>01  Nuevos aniversarios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520440"/>
            <a:ext cx="3520440" cy="2258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333333"/>
                </a:solidFill>
                <a:latin typeface="Aptos"/>
              </a:defRPr>
            </a:pPr>
            <a:r>
              <a:t>En cada aniversario, crea el ciclo anual y asigna los días de derecho según Vacaciones Dignas (LFT).</a:t>
            </a:r>
          </a:p>
          <a:p>
            <a:pPr>
              <a:spcAft>
                <a:spcPts val="500"/>
              </a:spcAft>
              <a:defRPr sz="1400" b="0">
                <a:solidFill>
                  <a:srgbClr val="333333"/>
                </a:solidFill>
                <a:latin typeface="Aptos"/>
              </a:defRPr>
            </a:pPr>
            <a:r>
              <a:t>Ejemplo: de 5 a 6 años de servicio. Ciclo anual ilustrativo: 2025–2026.</a:t>
            </a:r>
          </a:p>
          <a:p>
            <a:pPr>
              <a:spcAft>
                <a:spcPts val="500"/>
              </a:spcAft>
              <a:defRPr sz="1400" b="0">
                <a:solidFill>
                  <a:srgbClr val="333333"/>
                </a:solidFill>
                <a:latin typeface="Aptos"/>
              </a:defRPr>
            </a:pPr>
            <a:r>
              <a:t>Días por ley: 12, 14, 16, 18, 20, 22…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62072"/>
            <a:ext cx="3547872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02D62"/>
                </a:solidFill>
                <a:latin typeface="Aptos"/>
              </a:defRPr>
            </a:pPr>
            <a:r>
              <a:t>02  Vigencia de 18 meses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520440"/>
            <a:ext cx="3520440" cy="2258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333333"/>
                </a:solidFill>
                <a:latin typeface="Aptos"/>
              </a:defRPr>
            </a:pPr>
            <a:r>
              <a:t>FechaFinVigencia =</a:t>
            </a:r>
          </a:p>
          <a:p>
            <a:pPr>
              <a:spcAft>
                <a:spcPts val="500"/>
              </a:spcAft>
              <a:defRPr sz="1400" b="0">
                <a:solidFill>
                  <a:srgbClr val="333333"/>
                </a:solidFill>
                <a:latin typeface="Aptos"/>
              </a:defRPr>
            </a:pPr>
            <a:r>
              <a:t>FechaAniversario + 18 meses</a:t>
            </a:r>
          </a:p>
          <a:p>
            <a:pPr>
              <a:spcAft>
                <a:spcPts val="500"/>
              </a:spcAft>
              <a:defRPr sz="1400" b="0">
                <a:solidFill>
                  <a:srgbClr val="333333"/>
                </a:solidFill>
                <a:latin typeface="Aptos"/>
              </a:defRPr>
            </a:pPr>
            <a:r>
              <a:t>Si la fecha actual rebasa el límite, el ciclo pasa a CADUCADO / PRESCRITO.</a:t>
            </a:r>
          </a:p>
          <a:p>
            <a:pPr>
              <a:spcAft>
                <a:spcPts val="500"/>
              </a:spcAft>
              <a:defRPr sz="1400" b="0">
                <a:solidFill>
                  <a:srgbClr val="333333"/>
                </a:solidFill>
                <a:latin typeface="Aptos"/>
              </a:defRPr>
            </a:pPr>
            <a:r>
              <a:t>Los días restantes dejan de sumar al saldo disponible.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9016" y="2862072"/>
            <a:ext cx="3547872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F8F78"/>
                </a:solidFill>
                <a:latin typeface="Aptos"/>
              </a:defRPr>
            </a:pPr>
            <a:r>
              <a:t>03  Saldo disponible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3520440"/>
            <a:ext cx="3520440" cy="2258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333333"/>
                </a:solidFill>
                <a:latin typeface="Aptos"/>
              </a:defRPr>
            </a:pPr>
            <a:r>
              <a:t>Suma solo los días restantes de los períodos VIGENTES.</a:t>
            </a:r>
          </a:p>
          <a:p>
            <a:pPr>
              <a:spcAft>
                <a:spcPts val="500"/>
              </a:spcAft>
              <a:defRPr sz="1400" b="0">
                <a:solidFill>
                  <a:srgbClr val="333333"/>
                </a:solidFill>
                <a:latin typeface="Aptos"/>
              </a:defRPr>
            </a:pPr>
            <a:r>
              <a:t>Pueden coexistir 1 o hasta 2 períodos si el anterior aún no cumple sus 18 meses.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8911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002D62"/>
                </a:solidFill>
                <a:latin typeface="Aptos"/>
              </a:defRPr>
            </a:pPr>
            <a:r>
              <a:rPr dirty="0"/>
              <a:t>Al </a:t>
            </a:r>
            <a:r>
              <a:rPr dirty="0" err="1"/>
              <a:t>entrar</a:t>
            </a:r>
            <a:r>
              <a:rPr dirty="0"/>
              <a:t> al portal o </a:t>
            </a:r>
            <a:r>
              <a:rPr dirty="0" err="1"/>
              <a:t>consultar</a:t>
            </a:r>
            <a:r>
              <a:rPr dirty="0"/>
              <a:t> un </a:t>
            </a:r>
            <a:r>
              <a:rPr dirty="0" err="1"/>
              <a:t>saldo</a:t>
            </a:r>
            <a:r>
              <a:rPr dirty="0"/>
              <a:t>, el backend </a:t>
            </a:r>
            <a:r>
              <a:rPr dirty="0" err="1"/>
              <a:t>recalcula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tiempo</a:t>
            </a:r>
            <a:r>
              <a:rPr dirty="0"/>
              <a:t>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2D62"/>
          </a:solidFill>
          <a:ln w="12700">
            <a:solidFill>
              <a:srgbClr val="002D6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02920" y="3108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>
                <a:solidFill>
                  <a:srgbClr val="5B829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 6 · SINCRONIZACIÓN Y AJUSTES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002D6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ocurre con las altas, bajas y reingresos?</a:t>
            </a:r>
            <a:endParaRPr lang="en-US" sz="2700"/>
          </a:p>
        </p:txBody>
      </p:sp>
      <p:pic>
        <p:nvPicPr>
          <p:cNvPr id="5" name="Image 0" descr="/mnt/data/work_jama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338328"/>
            <a:ext cx="109728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01400" y="63825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5B8296"/>
                </a:solidFill>
              </a:rPr>
              <a:t>07</a:t>
            </a:r>
            <a:endParaRPr lang="en-US" sz="800"/>
          </a:p>
        </p:txBody>
      </p:sp>
      <p:sp>
        <p:nvSpPr>
          <p:cNvPr id="7" name="Shape 4"/>
          <p:cNvSpPr/>
          <p:nvPr/>
        </p:nvSpPr>
        <p:spPr>
          <a:xfrm>
            <a:off x="502920" y="6318504"/>
            <a:ext cx="11155680" cy="1"/>
          </a:xfrm>
          <a:prstGeom prst="line">
            <a:avLst/>
          </a:prstGeom>
          <a:noFill/>
          <a:ln w="12700">
            <a:solidFill>
              <a:srgbClr val="D9E2E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58968" cy="4526280"/>
          </a:xfrm>
          <a:prstGeom prst="rect">
            <a:avLst/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99632" y="1325880"/>
            <a:ext cx="5458968" cy="4526280"/>
          </a:xfrm>
          <a:prstGeom prst="rect">
            <a:avLst/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4910328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002D62"/>
                </a:solidFill>
                <a:latin typeface="Aptos"/>
              </a:defRPr>
            </a:pPr>
            <a:r>
              <a:t>Sincronización con nómina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489204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5B8296"/>
                </a:solidFill>
                <a:latin typeface="Aptos"/>
              </a:defRPr>
            </a:pPr>
            <a:r>
              <a:t>“Sincronizar desde CONTPAQi® Nóminas”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07792"/>
            <a:ext cx="4800600" cy="6924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333333"/>
                </a:solidFill>
                <a:latin typeface="Aptos"/>
              </a:defRPr>
            </a:pPr>
            <a:r>
              <a:rPr dirty="0"/>
              <a:t>Al pulsar el </a:t>
            </a:r>
            <a:r>
              <a:rPr dirty="0" err="1"/>
              <a:t>botón</a:t>
            </a:r>
            <a:r>
              <a:rPr dirty="0"/>
              <a:t>, la </a:t>
            </a:r>
            <a:r>
              <a:rPr dirty="0" err="1"/>
              <a:t>aplicación</a:t>
            </a:r>
            <a:r>
              <a:rPr dirty="0"/>
              <a:t> </a:t>
            </a:r>
            <a:r>
              <a:rPr dirty="0" err="1"/>
              <a:t>actualiza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</a:t>
            </a:r>
            <a:r>
              <a:rPr lang="es-ES" dirty="0"/>
              <a:t>NOMIPAC</a:t>
            </a:r>
            <a:r>
              <a:rPr dirty="0"/>
              <a:t> las </a:t>
            </a:r>
            <a:r>
              <a:rPr dirty="0" err="1"/>
              <a:t>fechas</a:t>
            </a:r>
            <a:r>
              <a:rPr dirty="0"/>
              <a:t> de </a:t>
            </a:r>
            <a:r>
              <a:rPr dirty="0" err="1"/>
              <a:t>alta</a:t>
            </a:r>
            <a:r>
              <a:rPr dirty="0"/>
              <a:t>, los </a:t>
            </a:r>
            <a:r>
              <a:rPr dirty="0" err="1"/>
              <a:t>puestos</a:t>
            </a:r>
            <a:r>
              <a:rPr dirty="0"/>
              <a:t> y el </a:t>
            </a:r>
            <a:r>
              <a:rPr dirty="0" err="1"/>
              <a:t>estatus</a:t>
            </a:r>
            <a:r>
              <a:rPr dirty="0"/>
              <a:t> del </a:t>
            </a:r>
            <a:r>
              <a:rPr dirty="0" err="1"/>
              <a:t>colaborador</a:t>
            </a:r>
            <a:r>
              <a:rPr dirty="0"/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87368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02D62"/>
                </a:solidFill>
                <a:latin typeface="Aptos"/>
              </a:defRPr>
            </a:pPr>
            <a:r>
              <a:t>Altas y reingresos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80560"/>
            <a:ext cx="4800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333333"/>
                </a:solidFill>
                <a:latin typeface="Aptos"/>
              </a:defRPr>
            </a:pPr>
            <a:r>
              <a:t>Una nueva fecha de alta o reingreso inicializa sus períodos automáticamente.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57800"/>
            <a:ext cx="480060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B8296"/>
                </a:solidFill>
                <a:latin typeface="Aptos"/>
              </a:defRPr>
            </a:pPr>
            <a:r>
              <a:t>Las bajas se reflejan mediante la actualización del estatus desde nómina.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627632"/>
            <a:ext cx="4910328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F8F78"/>
                </a:solidFill>
                <a:latin typeface="Aptos"/>
              </a:defRPr>
            </a:pPr>
            <a:r>
              <a:t>Saldos capturados por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212848"/>
            <a:ext cx="48920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5B8296"/>
                </a:solidFill>
                <a:latin typeface="Aptos"/>
              </a:defRPr>
            </a:pPr>
            <a:r>
              <a:t>Carga inicial o ajuste manual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07792"/>
            <a:ext cx="480060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333333"/>
                </a:solidFill>
                <a:latin typeface="Aptos"/>
              </a:defRPr>
            </a:pPr>
            <a:r>
              <a:t>Desarrollo Organizacional puede cargar saldos iniciales mediante la plantilla de Excel o fijar un saldo manual en la ficha.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087368"/>
            <a:ext cx="48006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2F8F78"/>
                </a:solidFill>
                <a:latin typeface="Aptos"/>
              </a:defRPr>
            </a:pPr>
            <a:r>
              <a:t>El sistema respeta los días capturados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562856"/>
            <a:ext cx="480060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333333"/>
                </a:solidFill>
                <a:latin typeface="Aptos"/>
              </a:defRPr>
            </a:pPr>
            <a:r>
              <a:t>Solo proyecta los ciclos futuros conforme se cumplen nuevos aniversarios.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975</Words>
  <Application>Microsoft Office PowerPoint</Application>
  <PresentationFormat>Panorámica</PresentationFormat>
  <Paragraphs>169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Grupo JAMA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Diagrama de Flujo de Solicitudes de Vacaciones - Grupo JAMA</dc:title>
  <dc:subject>Flujo de solicitudes de vacaciones</dc:subject>
  <dc:creator>Enrique Alvarez</dc:creator>
  <cp:lastModifiedBy>Enrique Alvarez</cp:lastModifiedBy>
  <cp:revision>2</cp:revision>
  <dcterms:created xsi:type="dcterms:W3CDTF">2026-10-15T17:40:23Z</dcterms:created>
  <dcterms:modified xsi:type="dcterms:W3CDTF">2026-10-15T18:27:30Z</dcterms:modified>
</cp:coreProperties>
</file>