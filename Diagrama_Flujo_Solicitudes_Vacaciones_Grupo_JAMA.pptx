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389120"/>
          </a:xfrm>
          <a:prstGeom prst="rect">
            <a:avLst/>
          </a:prstGeom>
          <a:solidFill>
            <a:srgbClr val="002D62"/>
          </a:solidFill>
          <a:ln>
            <a:solidFill>
              <a:srgbClr val="002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89120"/>
            <a:ext cx="12191695" cy="10972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97280"/>
            <a:ext cx="10362895" cy="2743200"/>
          </a:xfrm>
          <a:prstGeom prst="rect">
            <a:avLst/>
          </a:prstGeom>
          <a:noFill/>
        </p:spPr>
        <p:txBody>
          <a:bodyPr wrap="square">
            <a:spAutoFit/>
          </a:bodyPr>
          <a:lstStyle/>
          <a:p>
            <a:pPr>
              <a:defRPr sz="1300" b="1">
                <a:solidFill>
                  <a:srgbClr val="93C5FD"/>
                </a:solidFill>
                <a:latin typeface="Segoe UI"/>
              </a:defRPr>
            </a:pPr>
            <a:r>
              <a:t>GRUPO JAMA • DESARROLLO ORGANIZACIONAL</a:t>
            </a:r>
          </a:p>
          <a:p>
            <a:pPr>
              <a:defRPr sz="3200" b="1">
                <a:solidFill>
                  <a:srgbClr val="FFFFFF"/>
                </a:solidFill>
                <a:latin typeface="Segoe UI"/>
              </a:defRPr>
            </a:pPr>
            <a:r>
              <a:t>Diagrama de Flujo de Solicitudes de Vacaciones</a:t>
            </a:r>
          </a:p>
          <a:p>
            <a:pPr>
              <a:defRPr sz="1400">
                <a:solidFill>
                  <a:srgbClr val="E2E8F0"/>
                </a:solidFill>
                <a:latin typeface="Segoe UI"/>
              </a:defRPr>
            </a:pPr>
            <a:r>
              <a:t>Jerarquía de Aprobación Escalonada, Matriz de Avisos Notificatorios (Email/SMTP) y Afectación en Nómina (LFT Art. 76 - Formato Oficial FDO-84)</a:t>
            </a:r>
          </a:p>
        </p:txBody>
      </p:sp>
      <p:sp>
        <p:nvSpPr>
          <p:cNvPr id="5" name="Rounded Rectangle 4"/>
          <p:cNvSpPr/>
          <p:nvPr/>
        </p:nvSpPr>
        <p:spPr>
          <a:xfrm>
            <a:off x="914400" y="4754880"/>
            <a:ext cx="329184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02D62"/>
                </a:solidFill>
                <a:latin typeface="Segoe UI"/>
              </a:defRPr>
            </a:pPr>
            <a:r>
              <a:t>Nivel Jerárquico Escalonado</a:t>
            </a:r>
          </a:p>
          <a:p>
            <a:pPr>
              <a:defRPr sz="1000">
                <a:solidFill>
                  <a:srgbClr val="1E293B"/>
                </a:solidFill>
                <a:latin typeface="Segoe UI"/>
              </a:defRPr>
            </a:pPr>
            <a:r>
              <a:t>Colaborador → Líder Directo → Gerente de Sucursal → Vo.Bo. Centralizado DO</a:t>
            </a:r>
          </a:p>
        </p:txBody>
      </p:sp>
      <p:sp>
        <p:nvSpPr>
          <p:cNvPr id="6" name="Rounded Rectangle 5"/>
          <p:cNvSpPr/>
          <p:nvPr/>
        </p:nvSpPr>
        <p:spPr>
          <a:xfrm>
            <a:off x="4480560" y="4754880"/>
            <a:ext cx="329184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02D62"/>
                </a:solidFill>
                <a:latin typeface="Segoe UI"/>
              </a:defRPr>
            </a:pPr>
            <a:r>
              <a:t>Avisos &amp; Notificaciones SMTP</a:t>
            </a:r>
          </a:p>
          <a:p>
            <a:pPr>
              <a:defRPr sz="1000">
                <a:solidFill>
                  <a:srgbClr val="1E293B"/>
                </a:solidFill>
                <a:latin typeface="Segoe UI"/>
              </a:defRPr>
            </a:pPr>
            <a:r>
              <a:t>Eventos desacoplados en cada transición: Solicitud, Aprobación N1/N2, Vo.Bo. y Rechazo</a:t>
            </a:r>
          </a:p>
        </p:txBody>
      </p:sp>
      <p:sp>
        <p:nvSpPr>
          <p:cNvPr id="7" name="Rounded Rectangle 6"/>
          <p:cNvSpPr/>
          <p:nvPr/>
        </p:nvSpPr>
        <p:spPr>
          <a:xfrm>
            <a:off x="8046720" y="4754880"/>
            <a:ext cx="3291840" cy="1645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defRPr sz="1200" b="1">
                <a:solidFill>
                  <a:srgbClr val="002D62"/>
                </a:solidFill>
                <a:latin typeface="Segoe UI"/>
              </a:defRPr>
            </a:pPr>
            <a:r>
              <a:t>Gobernanza &amp; Nómina LFT</a:t>
            </a:r>
          </a:p>
          <a:p>
            <a:pPr>
              <a:defRPr sz="1000">
                <a:solidFill>
                  <a:srgbClr val="1E293B"/>
                </a:solidFill>
                <a:latin typeface="Segoe UI"/>
              </a:defRPr>
            </a:pPr>
            <a:r>
              <a:t>Validación LFT Art. 76, PEPS automático de saldos y emisión sellada FDO-84 (PDF)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1D4ED8"/>
                </a:solidFill>
                <a:latin typeface="Segoe UI"/>
              </a:defRPr>
            </a:pPr>
            <a:r>
              <a:t>MÓDULO 1 • GOBERNANZA Y JERARQUÍA</a:t>
            </a:r>
          </a:p>
          <a:p>
            <a:pPr>
              <a:defRPr sz="2000" b="1">
                <a:solidFill>
                  <a:srgbClr val="002D62"/>
                </a:solidFill>
                <a:latin typeface="Segoe UI"/>
              </a:defRPr>
            </a:pPr>
            <a:r>
              <a:t>Jerarquía Institucional y Actores en el Flujo de Vacaciones</a:t>
            </a:r>
          </a:p>
        </p:txBody>
      </p:sp>
      <p:sp>
        <p:nvSpPr>
          <p:cNvPr id="3" name="Rounded Rectangle 2"/>
          <p:cNvSpPr/>
          <p:nvPr/>
        </p:nvSpPr>
        <p:spPr>
          <a:xfrm>
            <a:off x="731520" y="1371600"/>
            <a:ext cx="2560320" cy="4937760"/>
          </a:xfrm>
          <a:prstGeom prst="roundRect">
            <a:avLst/>
          </a:prstGeom>
          <a:solidFill>
            <a:srgbClr val="F8FAFC"/>
          </a:solidFill>
          <a:ln w="19050">
            <a:solidFill>
              <a:srgbClr val="002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371600"/>
            <a:ext cx="2560320" cy="914400"/>
          </a:xfrm>
          <a:prstGeom prst="rect">
            <a:avLst/>
          </a:prstGeom>
          <a:solidFill>
            <a:srgbClr val="002D62"/>
          </a:solidFill>
          <a:ln>
            <a:solidFill>
              <a:srgbClr val="002D6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ctr">
              <a:defRPr sz="900" b="1">
                <a:solidFill>
                  <a:srgbClr val="BFDBFE"/>
                </a:solidFill>
                <a:latin typeface="Segoe UI"/>
              </a:defRPr>
            </a:pPr>
            <a:r>
              <a:t>PASO 01</a:t>
            </a:r>
          </a:p>
          <a:p>
            <a:pPr>
              <a:defRPr sz="1200" b="1">
                <a:solidFill>
                  <a:srgbClr val="FFFFFF"/>
                </a:solidFill>
                <a:latin typeface="Segoe UI"/>
              </a:defRPr>
            </a:pPr>
            <a:r>
              <a:t>Colaborador Solicitante</a:t>
            </a:r>
          </a:p>
        </p:txBody>
      </p:sp>
      <p:sp>
        <p:nvSpPr>
          <p:cNvPr id="5" name="TextBox 4"/>
          <p:cNvSpPr txBox="1"/>
          <p:nvPr/>
        </p:nvSpPr>
        <p:spPr>
          <a:xfrm>
            <a:off x="731520" y="2377440"/>
            <a:ext cx="2560320" cy="3840480"/>
          </a:xfrm>
          <a:prstGeom prst="rect">
            <a:avLst/>
          </a:prstGeom>
          <a:noFill/>
        </p:spPr>
        <p:txBody>
          <a:bodyPr wrap="square" lIns="137160" rIns="137160">
            <a:spAutoFit/>
          </a:bodyPr>
          <a:lstStyle/>
          <a:p>
            <a:pPr>
              <a:defRPr sz="900" b="1">
                <a:solidFill>
                  <a:srgbClr val="64748B"/>
                </a:solidFill>
                <a:latin typeface="Segoe UI"/>
              </a:defRPr>
            </a:pPr>
            <a:r>
              <a:t>Portal del Empleado (Autogestión)</a:t>
            </a:r>
          </a:p>
          <a:p>
            <a:pPr>
              <a:spcBef>
                <a:spcPts val="600"/>
              </a:spcBef>
              <a:defRPr sz="900">
                <a:solidFill>
                  <a:srgbClr val="1E293B"/>
                </a:solidFill>
                <a:latin typeface="Segoe UI"/>
              </a:defRPr>
            </a:pPr>
            <a:r>
              <a:t>• Consulta saldo disponible y vigencia LFT (Art. 76).</a:t>
            </a:r>
          </a:p>
          <a:p>
            <a:pPr>
              <a:spcBef>
                <a:spcPts val="600"/>
              </a:spcBef>
              <a:defRPr sz="900">
                <a:solidFill>
                  <a:srgbClr val="1E293B"/>
                </a:solidFill>
                <a:latin typeface="Segoe UI"/>
              </a:defRPr>
            </a:pPr>
            <a:r>
              <a:t>• Selecciona rango de fechas (cálculo Lun-Sáb sin festivos).</a:t>
            </a:r>
          </a:p>
          <a:p>
            <a:pPr>
              <a:spcBef>
                <a:spcPts val="600"/>
              </a:spcBef>
              <a:defRPr sz="900">
                <a:solidFill>
                  <a:srgbClr val="1E293B"/>
                </a:solidFill>
                <a:latin typeface="Segoe UI"/>
              </a:defRPr>
            </a:pPr>
            <a:r>
              <a:t>• Ingresa justificación o motivo de vacaciones.</a:t>
            </a:r>
          </a:p>
          <a:p>
            <a:pPr>
              <a:spcBef>
                <a:spcPts val="600"/>
              </a:spcBef>
              <a:defRPr sz="900">
                <a:solidFill>
                  <a:srgbClr val="1E293B"/>
                </a:solidFill>
                <a:latin typeface="Segoe UI"/>
              </a:defRPr>
            </a:pPr>
            <a:r>
              <a:t>• Estatus inicial generado: PENDIENTE_LIDER.</a:t>
            </a:r>
          </a:p>
          <a:p>
            <a:pPr>
              <a:spcBef>
                <a:spcPts val="600"/>
              </a:spcBef>
              <a:defRPr sz="900">
                <a:solidFill>
                  <a:srgbClr val="1E293B"/>
                </a:solidFill>
                <a:latin typeface="Segoe UI"/>
              </a:defRPr>
            </a:pPr>
            <a:r>
              <a:t>• Los días solicitados quedan reservados en trámite.</a:t>
            </a:r>
          </a:p>
        </p:txBody>
      </p:sp>
      <p:sp>
        <p:nvSpPr>
          <p:cNvPr id="6" name="Rounded Rectangle 5"/>
          <p:cNvSpPr/>
          <p:nvPr/>
        </p:nvSpPr>
        <p:spPr>
          <a:xfrm>
            <a:off x="3429000" y="1371600"/>
            <a:ext cx="2560320" cy="4937760"/>
          </a:xfrm>
          <a:prstGeom prst="roundRect">
            <a:avLst/>
          </a:prstGeom>
          <a:solidFill>
            <a:srgbClr val="F8FAFC"/>
          </a:solidFill>
          <a:ln w="19050">
            <a:solidFill>
              <a:srgbClr val="1B49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29000" y="1371600"/>
            <a:ext cx="2560320" cy="914400"/>
          </a:xfrm>
          <a:prstGeom prst="rect">
            <a:avLst/>
          </a:prstGeom>
          <a:solidFill>
            <a:srgbClr val="1B498C"/>
          </a:solidFill>
          <a:ln>
            <a:solidFill>
              <a:srgbClr val="1B498C"/>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ctr">
              <a:defRPr sz="900" b="1">
                <a:solidFill>
                  <a:srgbClr val="BFDBFE"/>
                </a:solidFill>
                <a:latin typeface="Segoe UI"/>
              </a:defRPr>
            </a:pPr>
            <a:r>
              <a:t>PASO 02</a:t>
            </a:r>
          </a:p>
          <a:p>
            <a:pPr>
              <a:defRPr sz="1200" b="1">
                <a:solidFill>
                  <a:srgbClr val="FFFFFF"/>
                </a:solidFill>
                <a:latin typeface="Segoe UI"/>
              </a:defRPr>
            </a:pPr>
            <a:r>
              <a:t>Líder Directo (Jefatura)</a:t>
            </a:r>
          </a:p>
        </p:txBody>
      </p:sp>
      <p:sp>
        <p:nvSpPr>
          <p:cNvPr id="8" name="TextBox 7"/>
          <p:cNvSpPr txBox="1"/>
          <p:nvPr/>
        </p:nvSpPr>
        <p:spPr>
          <a:xfrm>
            <a:off x="3429000" y="2377440"/>
            <a:ext cx="2560320" cy="3840480"/>
          </a:xfrm>
          <a:prstGeom prst="rect">
            <a:avLst/>
          </a:prstGeom>
          <a:noFill/>
        </p:spPr>
        <p:txBody>
          <a:bodyPr wrap="square" lIns="137160" rIns="137160">
            <a:spAutoFit/>
          </a:bodyPr>
          <a:lstStyle/>
          <a:p>
            <a:pPr>
              <a:defRPr sz="900" b="1">
                <a:solidFill>
                  <a:srgbClr val="64748B"/>
                </a:solidFill>
                <a:latin typeface="Segoe UI"/>
              </a:defRPr>
            </a:pPr>
            <a:r>
              <a:t>Bandeja de Autorizaciones del Líder</a:t>
            </a:r>
          </a:p>
          <a:p>
            <a:pPr>
              <a:spcBef>
                <a:spcPts val="600"/>
              </a:spcBef>
              <a:defRPr sz="900">
                <a:solidFill>
                  <a:srgbClr val="1E293B"/>
                </a:solidFill>
                <a:latin typeface="Segoe UI"/>
              </a:defRPr>
            </a:pPr>
            <a:r>
              <a:t>• Revisa cobertura de operación y solicitudes de su equipo.</a:t>
            </a:r>
          </a:p>
          <a:p>
            <a:pPr>
              <a:spcBef>
                <a:spcPts val="600"/>
              </a:spcBef>
              <a:defRPr sz="900">
                <a:solidFill>
                  <a:srgbClr val="1E293B"/>
                </a:solidFill>
                <a:latin typeface="Segoe UI"/>
              </a:defRPr>
            </a:pPr>
            <a:r>
              <a:t>• Si APRUEBA y requiere 2° nivel → Pasa a PENDIENTE_GERENTE.</a:t>
            </a:r>
          </a:p>
          <a:p>
            <a:pPr>
              <a:spcBef>
                <a:spcPts val="600"/>
              </a:spcBef>
              <a:defRPr sz="900">
                <a:solidFill>
                  <a:srgbClr val="1E293B"/>
                </a:solidFill>
                <a:latin typeface="Segoe UI"/>
              </a:defRPr>
            </a:pPr>
            <a:r>
              <a:t>• Si APRUEBA y no requiere 2° nivel → Pasa a PENDIENTE_DO.</a:t>
            </a:r>
          </a:p>
          <a:p>
            <a:pPr>
              <a:spcBef>
                <a:spcPts val="600"/>
              </a:spcBef>
              <a:defRPr sz="900">
                <a:solidFill>
                  <a:srgbClr val="1E293B"/>
                </a:solidFill>
                <a:latin typeface="Segoe UI"/>
              </a:defRPr>
            </a:pPr>
            <a:r>
              <a:t>• Si RECHAZA → Estatus RECHAZADA (motivo obligatorio).</a:t>
            </a:r>
          </a:p>
          <a:p>
            <a:pPr>
              <a:spcBef>
                <a:spcPts val="600"/>
              </a:spcBef>
              <a:defRPr sz="900">
                <a:solidFill>
                  <a:srgbClr val="1E293B"/>
                </a:solidFill>
                <a:latin typeface="Segoe UI"/>
              </a:defRPr>
            </a:pPr>
            <a:r>
              <a:t>• No descuenta saldos definitivos aún; transfiere a DO.</a:t>
            </a:r>
          </a:p>
        </p:txBody>
      </p:sp>
      <p:sp>
        <p:nvSpPr>
          <p:cNvPr id="9" name="Rounded Rectangle 8"/>
          <p:cNvSpPr/>
          <p:nvPr/>
        </p:nvSpPr>
        <p:spPr>
          <a:xfrm>
            <a:off x="6126480" y="1371600"/>
            <a:ext cx="2560320" cy="4937760"/>
          </a:xfrm>
          <a:prstGeom prst="roundRect">
            <a:avLst/>
          </a:prstGeom>
          <a:solidFill>
            <a:srgbClr val="F8FAFC"/>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1371600"/>
            <a:ext cx="2560320" cy="914400"/>
          </a:xfrm>
          <a:prstGeom prst="rect">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ctr">
              <a:defRPr sz="900" b="1">
                <a:solidFill>
                  <a:srgbClr val="BFDBFE"/>
                </a:solidFill>
                <a:latin typeface="Segoe UI"/>
              </a:defRPr>
            </a:pPr>
            <a:r>
              <a:t>PASO 03</a:t>
            </a:r>
          </a:p>
          <a:p>
            <a:pPr>
              <a:defRPr sz="1200" b="1">
                <a:solidFill>
                  <a:srgbClr val="FFFFFF"/>
                </a:solidFill>
                <a:latin typeface="Segoe UI"/>
              </a:defRPr>
            </a:pPr>
            <a:r>
              <a:t>Gerente de Sucursal / Planta</a:t>
            </a:r>
          </a:p>
        </p:txBody>
      </p:sp>
      <p:sp>
        <p:nvSpPr>
          <p:cNvPr id="11" name="TextBox 10"/>
          <p:cNvSpPr txBox="1"/>
          <p:nvPr/>
        </p:nvSpPr>
        <p:spPr>
          <a:xfrm>
            <a:off x="6126480" y="2377440"/>
            <a:ext cx="2560320" cy="3840480"/>
          </a:xfrm>
          <a:prstGeom prst="rect">
            <a:avLst/>
          </a:prstGeom>
          <a:noFill/>
        </p:spPr>
        <p:txBody>
          <a:bodyPr wrap="square" lIns="137160" rIns="137160">
            <a:spAutoFit/>
          </a:bodyPr>
          <a:lstStyle/>
          <a:p>
            <a:pPr>
              <a:defRPr sz="900" b="1">
                <a:solidFill>
                  <a:srgbClr val="64748B"/>
                </a:solidFill>
                <a:latin typeface="Segoe UI"/>
              </a:defRPr>
            </a:pPr>
            <a:r>
              <a:t>Segundo Nivel Aprobador (Condicional)</a:t>
            </a:r>
          </a:p>
          <a:p>
            <a:pPr>
              <a:spcBef>
                <a:spcPts val="600"/>
              </a:spcBef>
              <a:defRPr sz="900">
                <a:solidFill>
                  <a:srgbClr val="1E293B"/>
                </a:solidFill>
                <a:latin typeface="Segoe UI"/>
              </a:defRPr>
            </a:pPr>
            <a:r>
              <a:t>• Aplica para puestos operativos/supervisión con 2° nivel.</a:t>
            </a:r>
          </a:p>
          <a:p>
            <a:pPr>
              <a:spcBef>
                <a:spcPts val="600"/>
              </a:spcBef>
              <a:defRPr sz="900">
                <a:solidFill>
                  <a:srgbClr val="1E293B"/>
                </a:solidFill>
                <a:latin typeface="Segoe UI"/>
              </a:defRPr>
            </a:pPr>
            <a:r>
              <a:t>• Revisa la aprobación previa otorgada por la jefatura N1.</a:t>
            </a:r>
          </a:p>
          <a:p>
            <a:pPr>
              <a:spcBef>
                <a:spcPts val="600"/>
              </a:spcBef>
              <a:defRPr sz="900">
                <a:solidFill>
                  <a:srgbClr val="1E293B"/>
                </a:solidFill>
                <a:latin typeface="Segoe UI"/>
              </a:defRPr>
            </a:pPr>
            <a:r>
              <a:t>• Si APRUEBA → Pasa formalmente a PENDIENTE_DO.</a:t>
            </a:r>
          </a:p>
          <a:p>
            <a:pPr>
              <a:spcBef>
                <a:spcPts val="600"/>
              </a:spcBef>
              <a:defRPr sz="900">
                <a:solidFill>
                  <a:srgbClr val="1E293B"/>
                </a:solidFill>
                <a:latin typeface="Segoe UI"/>
              </a:defRPr>
            </a:pPr>
            <a:r>
              <a:t>• Si RECHAZA → Estatus RECHAZADA (motivo obligatorio).</a:t>
            </a:r>
          </a:p>
          <a:p>
            <a:pPr>
              <a:spcBef>
                <a:spcPts val="600"/>
              </a:spcBef>
              <a:defRPr sz="900">
                <a:solidFill>
                  <a:srgbClr val="1E293B"/>
                </a:solidFill>
                <a:latin typeface="Segoe UI"/>
              </a:defRPr>
            </a:pPr>
            <a:r>
              <a:t>• Garantiza el escalamiento corporativo antes de nómina.</a:t>
            </a:r>
          </a:p>
        </p:txBody>
      </p:sp>
      <p:sp>
        <p:nvSpPr>
          <p:cNvPr id="12" name="Rounded Rectangle 11"/>
          <p:cNvSpPr/>
          <p:nvPr/>
        </p:nvSpPr>
        <p:spPr>
          <a:xfrm>
            <a:off x="8823960" y="1371600"/>
            <a:ext cx="2560320" cy="493776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23960" y="1371600"/>
            <a:ext cx="2560320" cy="914400"/>
          </a:xfrm>
          <a:prstGeom prst="rect">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09728"/>
          <a:lstStyle/>
          <a:p>
            <a:pPr algn="ctr">
              <a:defRPr sz="900" b="1">
                <a:solidFill>
                  <a:srgbClr val="BFDBFE"/>
                </a:solidFill>
                <a:latin typeface="Segoe UI"/>
              </a:defRPr>
            </a:pPr>
            <a:r>
              <a:t>PASO 04</a:t>
            </a:r>
          </a:p>
          <a:p>
            <a:pPr>
              <a:defRPr sz="1200" b="1">
                <a:solidFill>
                  <a:srgbClr val="FFFFFF"/>
                </a:solidFill>
                <a:latin typeface="Segoe UI"/>
              </a:defRPr>
            </a:pPr>
            <a:r>
              <a:t>Desarrollo Organizacional</a:t>
            </a:r>
          </a:p>
        </p:txBody>
      </p:sp>
      <p:sp>
        <p:nvSpPr>
          <p:cNvPr id="14" name="TextBox 13"/>
          <p:cNvSpPr txBox="1"/>
          <p:nvPr/>
        </p:nvSpPr>
        <p:spPr>
          <a:xfrm>
            <a:off x="8823960" y="2377440"/>
            <a:ext cx="2560320" cy="3840480"/>
          </a:xfrm>
          <a:prstGeom prst="rect">
            <a:avLst/>
          </a:prstGeom>
          <a:noFill/>
        </p:spPr>
        <p:txBody>
          <a:bodyPr wrap="square" lIns="137160" rIns="137160">
            <a:spAutoFit/>
          </a:bodyPr>
          <a:lstStyle/>
          <a:p>
            <a:pPr>
              <a:defRPr sz="900" b="1">
                <a:solidFill>
                  <a:srgbClr val="64748B"/>
                </a:solidFill>
                <a:latin typeface="Segoe UI"/>
              </a:defRPr>
            </a:pPr>
            <a:r>
              <a:t>Admin DO (Gobernanza Centralizada)</a:t>
            </a:r>
          </a:p>
          <a:p>
            <a:pPr>
              <a:spcBef>
                <a:spcPts val="600"/>
              </a:spcBef>
              <a:defRPr sz="900">
                <a:solidFill>
                  <a:srgbClr val="1E293B"/>
                </a:solidFill>
                <a:latin typeface="Segoe UI"/>
              </a:defRPr>
            </a:pPr>
            <a:r>
              <a:t>• Revisa en Bandeja Global con filtro 'VoBo DO Pendiente'.</a:t>
            </a:r>
          </a:p>
          <a:p>
            <a:pPr>
              <a:spcBef>
                <a:spcPts val="600"/>
              </a:spcBef>
              <a:defRPr sz="900">
                <a:solidFill>
                  <a:srgbClr val="1E293B"/>
                </a:solidFill>
                <a:latin typeface="Segoe UI"/>
              </a:defRPr>
            </a:pPr>
            <a:r>
              <a:t>• Verifica sincronización NOMIPAQ e incidencias de nómina.</a:t>
            </a:r>
          </a:p>
          <a:p>
            <a:pPr>
              <a:spcBef>
                <a:spcPts val="600"/>
              </a:spcBef>
              <a:defRPr sz="900">
                <a:solidFill>
                  <a:srgbClr val="1E293B"/>
                </a:solidFill>
                <a:latin typeface="Segoe UI"/>
              </a:defRPr>
            </a:pPr>
            <a:r>
              <a:t>• Emite Vo.Bo. Final → Estatus cambia a APROBADA.</a:t>
            </a:r>
          </a:p>
          <a:p>
            <a:pPr>
              <a:spcBef>
                <a:spcPts val="600"/>
              </a:spcBef>
              <a:defRPr sz="900">
                <a:solidFill>
                  <a:srgbClr val="1E293B"/>
                </a:solidFill>
                <a:latin typeface="Segoe UI"/>
              </a:defRPr>
            </a:pPr>
            <a:r>
              <a:t>• Ejecución PEPS: Descuenta saldos de mayor antigüedad.</a:t>
            </a:r>
          </a:p>
          <a:p>
            <a:pPr>
              <a:spcBef>
                <a:spcPts val="600"/>
              </a:spcBef>
              <a:defRPr sz="900">
                <a:solidFill>
                  <a:srgbClr val="1E293B"/>
                </a:solidFill>
                <a:latin typeface="Segoe UI"/>
              </a:defRPr>
            </a:pPr>
            <a:r>
              <a:t>• Sella oficialmente formato FDO-84 con firmas digitales.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1D4ED8"/>
                </a:solidFill>
                <a:latin typeface="Segoe UI"/>
              </a:defRPr>
            </a:pPr>
            <a:r>
              <a:t>MÓDULO 2 • DIAGRAMA DE ESTADOS</a:t>
            </a:r>
          </a:p>
          <a:p>
            <a:pPr>
              <a:defRPr sz="2000" b="1">
                <a:solidFill>
                  <a:srgbClr val="002D62"/>
                </a:solidFill>
                <a:latin typeface="Segoe UI"/>
              </a:defRPr>
            </a:pPr>
            <a:r>
              <a:t>Diagrama Visual del Ciclo de Vida de la Solicitud</a:t>
            </a:r>
          </a:p>
        </p:txBody>
      </p:sp>
      <p:sp>
        <p:nvSpPr>
          <p:cNvPr id="3" name="Rounded Rectangle 2"/>
          <p:cNvSpPr/>
          <p:nvPr/>
        </p:nvSpPr>
        <p:spPr>
          <a:xfrm>
            <a:off x="731520" y="1463040"/>
            <a:ext cx="2377440" cy="1005840"/>
          </a:xfrm>
          <a:prstGeom prst="roundRect">
            <a:avLst/>
          </a:prstGeom>
          <a:solidFill>
            <a:srgbClr val="EFF6FF"/>
          </a:solidFill>
          <a:ln w="1905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1D4ED8"/>
                </a:solidFill>
              </a:defRPr>
            </a:pPr>
            <a:r>
              <a:t>1. Solicitud Creada</a:t>
            </a:r>
          </a:p>
          <a:p>
            <a:pPr>
              <a:defRPr sz="850">
                <a:solidFill>
                  <a:srgbClr val="1E293B"/>
                </a:solidFill>
              </a:defRPr>
            </a:pPr>
            <a:r>
              <a:t>Estatus: PENDIENTE_LIDER</a:t>
            </a:r>
            <a:br/>
            <a:r>
              <a:t>Días en trámite reservados</a:t>
            </a:r>
          </a:p>
        </p:txBody>
      </p:sp>
      <p:sp>
        <p:nvSpPr>
          <p:cNvPr id="4" name="Right Arrow 3"/>
          <p:cNvSpPr/>
          <p:nvPr/>
        </p:nvSpPr>
        <p:spPr>
          <a:xfrm>
            <a:off x="3200400" y="1828800"/>
            <a:ext cx="548640" cy="274320"/>
          </a:xfrm>
          <a:prstGeom prst="rightArrow">
            <a:avLst/>
          </a:prstGeom>
          <a:solidFill>
            <a:srgbClr val="1D4ED8"/>
          </a:solidFill>
          <a:ln>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840480" y="1463040"/>
            <a:ext cx="2560320" cy="1005840"/>
          </a:xfrm>
          <a:prstGeom prst="roundRect">
            <a:avLst/>
          </a:prstGeom>
          <a:solidFill>
            <a:srgbClr val="F8FAFC"/>
          </a:solidFill>
          <a:ln w="19050">
            <a:solidFill>
              <a:srgbClr val="002D6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002D62"/>
                </a:solidFill>
              </a:defRPr>
            </a:pPr>
            <a:r>
              <a:t>2. Revisión Jefatura Directa</a:t>
            </a:r>
          </a:p>
          <a:p>
            <a:pPr>
              <a:defRPr sz="850">
                <a:solidFill>
                  <a:srgbClr val="1E293B"/>
                </a:solidFill>
              </a:defRPr>
            </a:pPr>
            <a:r>
              <a:t>Líder evalúa turno y ausencias</a:t>
            </a:r>
            <a:br/>
            <a:r>
              <a:t>¿Autoriza el período?</a:t>
            </a:r>
          </a:p>
        </p:txBody>
      </p:sp>
      <p:sp>
        <p:nvSpPr>
          <p:cNvPr id="6" name="Down Arrow 5"/>
          <p:cNvSpPr/>
          <p:nvPr/>
        </p:nvSpPr>
        <p:spPr>
          <a:xfrm>
            <a:off x="4846320" y="2560320"/>
            <a:ext cx="274320" cy="548640"/>
          </a:xfrm>
          <a:prstGeom prst="downArrow">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840480" y="3200400"/>
            <a:ext cx="2560320" cy="822960"/>
          </a:xfrm>
          <a:prstGeom prst="roundRect">
            <a:avLst/>
          </a:prstGeom>
          <a:solidFill>
            <a:srgbClr val="FEF2F2"/>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000">
                <a:solidFill>
                  <a:srgbClr val="DC2626"/>
                </a:solidFill>
              </a:defRPr>
            </a:pPr>
            <a:r>
              <a:t>RECHAZADA (Fin de Trámite)</a:t>
            </a:r>
          </a:p>
          <a:p>
            <a:pPr>
              <a:defRPr sz="800">
                <a:solidFill>
                  <a:srgbClr val="1E293B"/>
                </a:solidFill>
              </a:defRPr>
            </a:pPr>
            <a:r>
              <a:t>Motivo obligatorio registrado</a:t>
            </a:r>
            <a:br/>
            <a:r>
              <a:t>Se liberan días en trámite</a:t>
            </a:r>
          </a:p>
        </p:txBody>
      </p:sp>
      <p:sp>
        <p:nvSpPr>
          <p:cNvPr id="8" name="Right Arrow 7"/>
          <p:cNvSpPr/>
          <p:nvPr/>
        </p:nvSpPr>
        <p:spPr>
          <a:xfrm>
            <a:off x="6492240" y="1828800"/>
            <a:ext cx="548640" cy="274320"/>
          </a:xfrm>
          <a:prstGeom prst="rightArrow">
            <a:avLst/>
          </a:prstGeom>
          <a:solidFill>
            <a:srgbClr val="002D62"/>
          </a:solidFill>
          <a:ln>
            <a:solidFill>
              <a:srgbClr val="002D6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0" y="1463040"/>
            <a:ext cx="2377440" cy="1005840"/>
          </a:xfrm>
          <a:prstGeom prst="roundRect">
            <a:avLst/>
          </a:prstGeom>
          <a:solidFill>
            <a:srgbClr val="F8FAFC"/>
          </a:solidFill>
          <a:ln w="19050">
            <a:solidFill>
              <a:srgbClr val="1B49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1B498C"/>
                </a:solidFill>
              </a:defRPr>
            </a:pPr>
            <a:r>
              <a:t>¿Requiere 2° Aprobador?</a:t>
            </a:r>
          </a:p>
          <a:p>
            <a:pPr>
              <a:defRPr sz="850">
                <a:solidFill>
                  <a:srgbClr val="1E293B"/>
                </a:solidFill>
              </a:defRPr>
            </a:pPr>
            <a:r>
              <a:t>SÍ → PENDIENTE_GERENTE</a:t>
            </a:r>
            <a:br/>
            <a:r>
              <a:t>NO → Pasa directo a DO</a:t>
            </a:r>
          </a:p>
        </p:txBody>
      </p:sp>
      <p:sp>
        <p:nvSpPr>
          <p:cNvPr id="10" name="Right Arrow 9"/>
          <p:cNvSpPr/>
          <p:nvPr/>
        </p:nvSpPr>
        <p:spPr>
          <a:xfrm>
            <a:off x="9601200" y="1828800"/>
            <a:ext cx="548640" cy="274320"/>
          </a:xfrm>
          <a:prstGeom prst="rightArrow">
            <a:avLst/>
          </a:prstGeom>
          <a:solidFill>
            <a:srgbClr val="059669"/>
          </a:solidFill>
          <a:ln>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241280" y="1463040"/>
            <a:ext cx="1554480" cy="2926080"/>
          </a:xfrm>
          <a:prstGeom prst="roundRect">
            <a:avLst/>
          </a:prstGeom>
          <a:solidFill>
            <a:srgbClr val="ECFDF5"/>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100">
                <a:solidFill>
                  <a:srgbClr val="059669"/>
                </a:solidFill>
              </a:defRPr>
            </a:pPr>
            <a:r>
              <a:t>3. Vo.Bo. DO</a:t>
            </a:r>
          </a:p>
          <a:p>
            <a:pPr>
              <a:defRPr sz="800">
                <a:solidFill>
                  <a:srgbClr val="1E293B"/>
                </a:solidFill>
              </a:defRPr>
            </a:pPr>
            <a:r>
              <a:t>Estatus:</a:t>
            </a:r>
            <a:br/>
            <a:r>
              <a:t>PENDIENTE_DO</a:t>
            </a:r>
            <a:br/>
            <a:br/>
            <a:r>
              <a:t>Admin DO emite resolución:</a:t>
            </a:r>
            <a:br/>
            <a:r>
              <a:t>✔ Vo.Bo. Aprobado</a:t>
            </a:r>
            <a:br/>
            <a:r>
              <a:t>✖ Rechazado</a:t>
            </a:r>
            <a:br/>
            <a:br/>
            <a:r>
              <a:t>Al aprobarse:</a:t>
            </a:r>
            <a:br/>
            <a:r>
              <a:t>• Estatus APROBADA</a:t>
            </a:r>
            <a:br/>
            <a:r>
              <a:t>• Descuento PEPS</a:t>
            </a:r>
            <a:br/>
            <a:r>
              <a:t>• Sellado FDO-84</a:t>
            </a:r>
          </a:p>
        </p:txBody>
      </p:sp>
      <p:sp>
        <p:nvSpPr>
          <p:cNvPr id="12" name="Rounded Rectangle 11"/>
          <p:cNvSpPr/>
          <p:nvPr/>
        </p:nvSpPr>
        <p:spPr>
          <a:xfrm>
            <a:off x="731520" y="4389120"/>
            <a:ext cx="9144000" cy="1828800"/>
          </a:xfrm>
          <a:prstGeom prst="roundRect">
            <a:avLst/>
          </a:prstGeom>
          <a:solidFill>
            <a:srgbClr val="FEF9C3"/>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100">
                <a:solidFill>
                  <a:srgbClr val="92400E"/>
                </a:solidFill>
              </a:defRPr>
            </a:pPr>
            <a:r>
              <a:t>REGLA DE GOBERNANZA RECIÉN CORREGIDA (CASO VAC-2026-00011):</a:t>
            </a:r>
          </a:p>
          <a:p>
            <a:pPr>
              <a:spcBef>
                <a:spcPts val="400"/>
              </a:spcBef>
              <a:defRPr sz="950">
                <a:solidFill>
                  <a:srgbClr val="1E293B"/>
                </a:solidFill>
              </a:defRPr>
            </a:pPr>
            <a:r>
              <a:t>• Anteriormente, la aprobación del líder marcaba directamente la solicitud como APROBADA, omitiendo el estatus intermedio PENDIENTE_DO y duplicando la firma del líder en el recuadro de Desarrollo Organizacional.</a:t>
            </a:r>
          </a:p>
          <a:p>
            <a:pPr>
              <a:spcBef>
                <a:spcPts val="400"/>
              </a:spcBef>
              <a:defRPr sz="950">
                <a:solidFill>
                  <a:srgbClr val="1E293B"/>
                </a:solidFill>
              </a:defRPr>
            </a:pPr>
            <a:r>
              <a:t>• Regla Definitiva: Ninguna solicitud se considera formalmente APROBADA ni descuenta saldos gozados en CONTPAQi hasta que Admin DO otorga su visto bueno final en el sistema. Mientras tanto, permanece visible en el filtro 'VoBo DO Pendiente'.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1D4ED8"/>
                </a:solidFill>
                <a:latin typeface="Segoe UI"/>
              </a:defRPr>
            </a:pPr>
            <a:r>
              <a:t>MÓDULO 3 • NOTIFICACIONES (SMTP)</a:t>
            </a:r>
          </a:p>
          <a:p>
            <a:pPr>
              <a:defRPr sz="2000" b="1">
                <a:solidFill>
                  <a:srgbClr val="002D62"/>
                </a:solidFill>
                <a:latin typeface="Segoe UI"/>
              </a:defRPr>
            </a:pPr>
            <a:r>
              <a:t>Matriz de Notificaciones y Avisos por Correo Electrónico</a:t>
            </a:r>
          </a:p>
        </p:txBody>
      </p:sp>
      <p:graphicFrame>
        <p:nvGraphicFramePr>
          <p:cNvPr id="3" name="Table 2"/>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011680"/>
                <a:gridCol w="1645920"/>
                <a:gridCol w="2011680"/>
                <a:gridCol w="3657600"/>
                <a:gridCol w="1401775"/>
              </a:tblGrid>
              <a:tr h="807720">
                <a:tc>
                  <a:txBody>
                    <a:bodyPr/>
                    <a:lstStyle/>
                    <a:p>
                      <a:pPr algn="ctr">
                        <a:defRPr b="1" sz="1000">
                          <a:solidFill>
                            <a:srgbClr val="FFFFFF"/>
                          </a:solidFill>
                        </a:defRPr>
                      </a:pPr>
                      <a:r>
                        <a:t>Evento Notificatorio</a:t>
                      </a:r>
                    </a:p>
                  </a:txBody>
                  <a:tcPr>
                    <a:solidFill>
                      <a:srgbClr val="002D62"/>
                    </a:solidFill>
                  </a:tcPr>
                </a:tc>
                <a:tc>
                  <a:txBody>
                    <a:bodyPr/>
                    <a:lstStyle/>
                    <a:p>
                      <a:pPr algn="ctr">
                        <a:defRPr b="1" sz="1000">
                          <a:solidFill>
                            <a:srgbClr val="FFFFFF"/>
                          </a:solidFill>
                        </a:defRPr>
                      </a:pPr>
                      <a:r>
                        <a:t>Momento / Disparador</a:t>
                      </a:r>
                    </a:p>
                  </a:txBody>
                  <a:tcPr>
                    <a:solidFill>
                      <a:srgbClr val="002D62"/>
                    </a:solidFill>
                  </a:tcPr>
                </a:tc>
                <a:tc>
                  <a:txBody>
                    <a:bodyPr/>
                    <a:lstStyle/>
                    <a:p>
                      <a:pPr algn="ctr">
                        <a:defRPr b="1" sz="1000">
                          <a:solidFill>
                            <a:srgbClr val="FFFFFF"/>
                          </a:solidFill>
                        </a:defRPr>
                      </a:pPr>
                      <a:r>
                        <a:t>Destinatarios</a:t>
                      </a:r>
                    </a:p>
                  </a:txBody>
                  <a:tcPr>
                    <a:solidFill>
                      <a:srgbClr val="002D62"/>
                    </a:solidFill>
                  </a:tcPr>
                </a:tc>
                <a:tc>
                  <a:txBody>
                    <a:bodyPr/>
                    <a:lstStyle/>
                    <a:p>
                      <a:pPr algn="ctr">
                        <a:defRPr b="1" sz="1000">
                          <a:solidFill>
                            <a:srgbClr val="FFFFFF"/>
                          </a:solidFill>
                        </a:defRPr>
                      </a:pPr>
                      <a:r>
                        <a:t>Contenido del Correo</a:t>
                      </a:r>
                    </a:p>
                  </a:txBody>
                  <a:tcPr>
                    <a:solidFill>
                      <a:srgbClr val="002D62"/>
                    </a:solidFill>
                  </a:tcPr>
                </a:tc>
                <a:tc>
                  <a:txBody>
                    <a:bodyPr/>
                    <a:lstStyle/>
                    <a:p>
                      <a:pPr algn="ctr">
                        <a:defRPr b="1" sz="1000">
                          <a:solidFill>
                            <a:srgbClr val="FFFFFF"/>
                          </a:solidFill>
                        </a:defRPr>
                      </a:pPr>
                      <a:r>
                        <a:t>Formato FDO-84</a:t>
                      </a:r>
                    </a:p>
                  </a:txBody>
                  <a:tcPr>
                    <a:solidFill>
                      <a:srgbClr val="002D62"/>
                    </a:solidFill>
                  </a:tcPr>
                </a:tc>
              </a:tr>
              <a:tr h="807720">
                <a:tc>
                  <a:txBody>
                    <a:bodyPr tIns="73152"/>
                    <a:lstStyle/>
                    <a:p>
                      <a:pPr>
                        <a:defRPr sz="850" b="1">
                          <a:solidFill>
                            <a:srgbClr val="002D62"/>
                          </a:solidFill>
                          <a:latin typeface="Segoe UI"/>
                        </a:defRPr>
                      </a:pPr>
                      <a:r>
                        <a:t>A) Registro de Solicitud</a:t>
                      </a:r>
                    </a:p>
                  </a:txBody>
                  <a:tcPr>
                    <a:solidFill>
                      <a:srgbClr val="F8FAFC"/>
                    </a:solidFill>
                  </a:tcPr>
                </a:tc>
                <a:tc>
                  <a:txBody>
                    <a:bodyPr tIns="73152"/>
                    <a:lstStyle/>
                    <a:p>
                      <a:pPr>
                        <a:defRPr sz="850">
                          <a:solidFill>
                            <a:srgbClr val="1E293B"/>
                          </a:solidFill>
                          <a:latin typeface="Segoe UI"/>
                        </a:defRPr>
                      </a:pPr>
                      <a:r>
                        <a:t>Colaborador envía trámite en el portal</a:t>
                      </a:r>
                    </a:p>
                  </a:txBody>
                  <a:tcPr>
                    <a:solidFill>
                      <a:srgbClr val="F8FAFC"/>
                    </a:solidFill>
                  </a:tcPr>
                </a:tc>
                <a:tc>
                  <a:txBody>
                    <a:bodyPr tIns="73152"/>
                    <a:lstStyle/>
                    <a:p>
                      <a:pPr>
                        <a:defRPr sz="850">
                          <a:solidFill>
                            <a:srgbClr val="1E293B"/>
                          </a:solidFill>
                          <a:latin typeface="Segoe UI"/>
                        </a:defRPr>
                      </a:pPr>
                      <a:r>
                        <a:t>Jefe Inmediato Directo (Líder)</a:t>
                      </a:r>
                    </a:p>
                  </a:txBody>
                  <a:tcPr>
                    <a:solidFill>
                      <a:srgbClr val="F8FAFC"/>
                    </a:solidFill>
                  </a:tcPr>
                </a:tc>
                <a:tc>
                  <a:txBody>
                    <a:bodyPr tIns="73152"/>
                    <a:lstStyle/>
                    <a:p>
                      <a:pPr>
                        <a:defRPr sz="850">
                          <a:solidFill>
                            <a:srgbClr val="1E293B"/>
                          </a:solidFill>
                          <a:latin typeface="Segoe UI"/>
                        </a:defRPr>
                      </a:pPr>
                      <a:r>
                        <a:t>Notificación de nueva solicitud para autorizar, fechas, días hábiles, balance del colaborador y botón de acceso a la bandeja.</a:t>
                      </a:r>
                    </a:p>
                  </a:txBody>
                  <a:tcPr>
                    <a:solidFill>
                      <a:srgbClr val="F8FAFC"/>
                    </a:solidFill>
                  </a:tcPr>
                </a:tc>
                <a:tc>
                  <a:txBody>
                    <a:bodyPr tIns="73152"/>
                    <a:lstStyle/>
                    <a:p>
                      <a:pPr>
                        <a:defRPr sz="850">
                          <a:solidFill>
                            <a:srgbClr val="1E293B"/>
                          </a:solidFill>
                          <a:latin typeface="Segoe UI"/>
                        </a:defRPr>
                      </a:pPr>
                      <a:r>
                        <a:t>Borrador (Sin sellos de jefatura)</a:t>
                      </a:r>
                    </a:p>
                  </a:txBody>
                  <a:tcPr>
                    <a:solidFill>
                      <a:srgbClr val="F8FAFC"/>
                    </a:solidFill>
                  </a:tcPr>
                </a:tc>
              </a:tr>
              <a:tr h="807720">
                <a:tc>
                  <a:txBody>
                    <a:bodyPr tIns="73152"/>
                    <a:lstStyle/>
                    <a:p>
                      <a:pPr>
                        <a:defRPr sz="850" b="1">
                          <a:solidFill>
                            <a:srgbClr val="002D62"/>
                          </a:solidFill>
                          <a:latin typeface="Segoe UI"/>
                        </a:defRPr>
                      </a:pPr>
                      <a:r>
                        <a:t>B) Escalamiento Gerencial</a:t>
                      </a:r>
                    </a:p>
                  </a:txBody>
                  <a:tcPr>
                    <a:solidFill>
                      <a:srgbClr val="FFFFFF"/>
                    </a:solidFill>
                  </a:tcPr>
                </a:tc>
                <a:tc>
                  <a:txBody>
                    <a:bodyPr tIns="73152"/>
                    <a:lstStyle/>
                    <a:p>
                      <a:pPr>
                        <a:defRPr sz="850">
                          <a:solidFill>
                            <a:srgbClr val="1E293B"/>
                          </a:solidFill>
                          <a:latin typeface="Segoe UI"/>
                        </a:defRPr>
                      </a:pPr>
                      <a:r>
                        <a:t>Líder aprueba solicitud que tiene 2° aprobador</a:t>
                      </a:r>
                    </a:p>
                  </a:txBody>
                  <a:tcPr>
                    <a:solidFill>
                      <a:srgbClr val="FFFFFF"/>
                    </a:solidFill>
                  </a:tcPr>
                </a:tc>
                <a:tc>
                  <a:txBody>
                    <a:bodyPr tIns="73152"/>
                    <a:lstStyle/>
                    <a:p>
                      <a:pPr>
                        <a:defRPr sz="850">
                          <a:solidFill>
                            <a:srgbClr val="1E293B"/>
                          </a:solidFill>
                          <a:latin typeface="Segoe UI"/>
                        </a:defRPr>
                      </a:pPr>
                      <a:r>
                        <a:t>Gerente de Sucursal / Planta</a:t>
                      </a:r>
                    </a:p>
                  </a:txBody>
                  <a:tcPr>
                    <a:solidFill>
                      <a:srgbClr val="FFFFFF"/>
                    </a:solidFill>
                  </a:tcPr>
                </a:tc>
                <a:tc>
                  <a:txBody>
                    <a:bodyPr tIns="73152"/>
                    <a:lstStyle/>
                    <a:p>
                      <a:pPr>
                        <a:defRPr sz="850">
                          <a:solidFill>
                            <a:srgbClr val="1E293B"/>
                          </a:solidFill>
                          <a:latin typeface="Segoe UI"/>
                        </a:defRPr>
                      </a:pPr>
                      <a:r>
                        <a:t>Aviso de que la jefatura N1 ya autorizó y requiere autorización de gerencia antes de transferir a nómina.</a:t>
                      </a:r>
                    </a:p>
                  </a:txBody>
                  <a:tcPr>
                    <a:solidFill>
                      <a:srgbClr val="FFFFFF"/>
                    </a:solidFill>
                  </a:tcPr>
                </a:tc>
                <a:tc>
                  <a:txBody>
                    <a:bodyPr tIns="73152"/>
                    <a:lstStyle/>
                    <a:p>
                      <a:pPr>
                        <a:defRPr sz="850">
                          <a:solidFill>
                            <a:srgbClr val="1E293B"/>
                          </a:solidFill>
                          <a:latin typeface="Segoe UI"/>
                        </a:defRPr>
                      </a:pPr>
                      <a:r>
                        <a:t>Actualizado con sello de Líder N1</a:t>
                      </a:r>
                    </a:p>
                  </a:txBody>
                  <a:tcPr>
                    <a:solidFill>
                      <a:srgbClr val="FFFFFF"/>
                    </a:solidFill>
                  </a:tcPr>
                </a:tc>
              </a:tr>
              <a:tr h="807720">
                <a:tc>
                  <a:txBody>
                    <a:bodyPr tIns="73152"/>
                    <a:lstStyle/>
                    <a:p>
                      <a:pPr>
                        <a:defRPr sz="850" b="1">
                          <a:solidFill>
                            <a:srgbClr val="002D62"/>
                          </a:solidFill>
                          <a:latin typeface="Segoe UI"/>
                        </a:defRPr>
                      </a:pPr>
                      <a:r>
                        <a:t>C) Pase a Vo.Bo. DO</a:t>
                      </a:r>
                    </a:p>
                  </a:txBody>
                  <a:tcPr>
                    <a:solidFill>
                      <a:srgbClr val="F8FAFC"/>
                    </a:solidFill>
                  </a:tcPr>
                </a:tc>
                <a:tc>
                  <a:txBody>
                    <a:bodyPr tIns="73152"/>
                    <a:lstStyle/>
                    <a:p>
                      <a:pPr>
                        <a:defRPr sz="850">
                          <a:solidFill>
                            <a:srgbClr val="1E293B"/>
                          </a:solidFill>
                          <a:latin typeface="Segoe UI"/>
                        </a:defRPr>
                      </a:pPr>
                      <a:r>
                        <a:t>Líder / Gerente aprueba en su nivel final</a:t>
                      </a:r>
                    </a:p>
                  </a:txBody>
                  <a:tcPr>
                    <a:solidFill>
                      <a:srgbClr val="F8FAFC"/>
                    </a:solidFill>
                  </a:tcPr>
                </a:tc>
                <a:tc>
                  <a:txBody>
                    <a:bodyPr tIns="73152"/>
                    <a:lstStyle/>
                    <a:p>
                      <a:pPr>
                        <a:defRPr sz="850">
                          <a:solidFill>
                            <a:srgbClr val="1E293B"/>
                          </a:solidFill>
                          <a:latin typeface="Segoe UI"/>
                        </a:defRPr>
                      </a:pPr>
                      <a:r>
                        <a:t>Administración Central de DO</a:t>
                      </a:r>
                    </a:p>
                  </a:txBody>
                  <a:tcPr>
                    <a:solidFill>
                      <a:srgbClr val="F8FAFC"/>
                    </a:solidFill>
                  </a:tcPr>
                </a:tc>
                <a:tc>
                  <a:txBody>
                    <a:bodyPr tIns="73152"/>
                    <a:lstStyle/>
                    <a:p>
                      <a:pPr>
                        <a:defRPr sz="850">
                          <a:solidFill>
                            <a:srgbClr val="1E293B"/>
                          </a:solidFill>
                          <a:latin typeface="Segoe UI"/>
                        </a:defRPr>
                      </a:pPr>
                      <a:r>
                        <a:t>Notificación de solicitud con vistos buenos de línea jerárquica lista para revisión y registro en nómina.</a:t>
                      </a:r>
                    </a:p>
                  </a:txBody>
                  <a:tcPr>
                    <a:solidFill>
                      <a:srgbClr val="F8FAFC"/>
                    </a:solidFill>
                  </a:tcPr>
                </a:tc>
                <a:tc>
                  <a:txBody>
                    <a:bodyPr tIns="73152"/>
                    <a:lstStyle/>
                    <a:p>
                      <a:pPr>
                        <a:defRPr sz="850">
                          <a:solidFill>
                            <a:srgbClr val="1E293B"/>
                          </a:solidFill>
                          <a:latin typeface="Segoe UI"/>
                        </a:defRPr>
                      </a:pPr>
                      <a:r>
                        <a:t>Actualizado con sellos jerárquicos</a:t>
                      </a:r>
                    </a:p>
                  </a:txBody>
                  <a:tcPr>
                    <a:solidFill>
                      <a:srgbClr val="F8FAFC"/>
                    </a:solidFill>
                  </a:tcPr>
                </a:tc>
              </a:tr>
              <a:tr h="807720">
                <a:tc>
                  <a:txBody>
                    <a:bodyPr tIns="73152"/>
                    <a:lstStyle/>
                    <a:p>
                      <a:pPr>
                        <a:defRPr sz="850" b="1">
                          <a:solidFill>
                            <a:srgbClr val="002D62"/>
                          </a:solidFill>
                          <a:latin typeface="Segoe UI"/>
                        </a:defRPr>
                      </a:pPr>
                      <a:r>
                        <a:t>D) Conclusión y Vo.Bo. DO</a:t>
                      </a:r>
                    </a:p>
                  </a:txBody>
                  <a:tcPr>
                    <a:solidFill>
                      <a:srgbClr val="FFFFFF"/>
                    </a:solidFill>
                  </a:tcPr>
                </a:tc>
                <a:tc>
                  <a:txBody>
                    <a:bodyPr tIns="73152"/>
                    <a:lstStyle/>
                    <a:p>
                      <a:pPr>
                        <a:defRPr sz="850">
                          <a:solidFill>
                            <a:srgbClr val="1E293B"/>
                          </a:solidFill>
                          <a:latin typeface="Segoe UI"/>
                        </a:defRPr>
                      </a:pPr>
                      <a:r>
                        <a:t>Admin DO valida y emite Vo.Bo. exitoso</a:t>
                      </a:r>
                    </a:p>
                  </a:txBody>
                  <a:tcPr>
                    <a:solidFill>
                      <a:srgbClr val="FFFFFF"/>
                    </a:solidFill>
                  </a:tcPr>
                </a:tc>
                <a:tc>
                  <a:txBody>
                    <a:bodyPr tIns="73152"/>
                    <a:lstStyle/>
                    <a:p>
                      <a:pPr>
                        <a:defRPr sz="850">
                          <a:solidFill>
                            <a:srgbClr val="1E293B"/>
                          </a:solidFill>
                          <a:latin typeface="Segoe UI"/>
                        </a:defRPr>
                      </a:pPr>
                      <a:r>
                        <a:t>Colaborador + Líder + Gerente + DO</a:t>
                      </a:r>
                    </a:p>
                  </a:txBody>
                  <a:tcPr>
                    <a:solidFill>
                      <a:srgbClr val="FFFFFF"/>
                    </a:solidFill>
                  </a:tcPr>
                </a:tc>
                <a:tc>
                  <a:txBody>
                    <a:bodyPr tIns="73152"/>
                    <a:lstStyle/>
                    <a:p>
                      <a:pPr>
                        <a:defRPr sz="850">
                          <a:solidFill>
                            <a:srgbClr val="1E293B"/>
                          </a:solidFill>
                          <a:latin typeface="Segoe UI"/>
                        </a:defRPr>
                      </a:pPr>
                      <a:r>
                        <a:t>Confirmación de solicitud 100% aprobada. Se informa el saldo restante y la fecha oficial de reincorporación a labores.</a:t>
                      </a:r>
                    </a:p>
                  </a:txBody>
                  <a:tcPr>
                    <a:solidFill>
                      <a:srgbClr val="FFFFFF"/>
                    </a:solidFill>
                  </a:tcPr>
                </a:tc>
                <a:tc>
                  <a:txBody>
                    <a:bodyPr tIns="73152"/>
                    <a:lstStyle/>
                    <a:p>
                      <a:pPr>
                        <a:defRPr sz="850">
                          <a:solidFill>
                            <a:srgbClr val="1E293B"/>
                          </a:solidFill>
                          <a:latin typeface="Segoe UI"/>
                        </a:defRPr>
                      </a:pPr>
                      <a:r>
                        <a:t>Oficial y Definitivo (Sellos y firmas completas)</a:t>
                      </a:r>
                    </a:p>
                  </a:txBody>
                  <a:tcPr>
                    <a:solidFill>
                      <a:srgbClr val="FFFFFF"/>
                    </a:solidFill>
                  </a:tcPr>
                </a:tc>
              </a:tr>
              <a:tr h="807720">
                <a:tc>
                  <a:txBody>
                    <a:bodyPr tIns="73152"/>
                    <a:lstStyle/>
                    <a:p>
                      <a:pPr>
                        <a:defRPr sz="850" b="1">
                          <a:solidFill>
                            <a:srgbClr val="002D62"/>
                          </a:solidFill>
                          <a:latin typeface="Segoe UI"/>
                        </a:defRPr>
                      </a:pPr>
                      <a:r>
                        <a:t>E) Rechazo de Solicitud</a:t>
                      </a:r>
                    </a:p>
                  </a:txBody>
                  <a:tcPr>
                    <a:solidFill>
                      <a:srgbClr val="F8FAFC"/>
                    </a:solidFill>
                  </a:tcPr>
                </a:tc>
                <a:tc>
                  <a:txBody>
                    <a:bodyPr tIns="73152"/>
                    <a:lstStyle/>
                    <a:p>
                      <a:pPr>
                        <a:defRPr sz="850">
                          <a:solidFill>
                            <a:srgbClr val="1E293B"/>
                          </a:solidFill>
                          <a:latin typeface="Segoe UI"/>
                        </a:defRPr>
                      </a:pPr>
                      <a:r>
                        <a:t>Rechazo en cualquier nivel (Líder, Gerente o DO)</a:t>
                      </a:r>
                    </a:p>
                  </a:txBody>
                  <a:tcPr>
                    <a:solidFill>
                      <a:srgbClr val="F8FAFC"/>
                    </a:solidFill>
                  </a:tcPr>
                </a:tc>
                <a:tc>
                  <a:txBody>
                    <a:bodyPr tIns="73152"/>
                    <a:lstStyle/>
                    <a:p>
                      <a:pPr>
                        <a:defRPr sz="850">
                          <a:solidFill>
                            <a:srgbClr val="1E293B"/>
                          </a:solidFill>
                          <a:latin typeface="Segoe UI"/>
                        </a:defRPr>
                      </a:pPr>
                      <a:r>
                        <a:t>Colaborador solicitante</a:t>
                      </a:r>
                    </a:p>
                  </a:txBody>
                  <a:tcPr>
                    <a:solidFill>
                      <a:srgbClr val="F8FAFC"/>
                    </a:solidFill>
                  </a:tcPr>
                </a:tc>
                <a:tc>
                  <a:txBody>
                    <a:bodyPr tIns="73152"/>
                    <a:lstStyle/>
                    <a:p>
                      <a:pPr>
                        <a:defRPr sz="850">
                          <a:solidFill>
                            <a:srgbClr val="1E293B"/>
                          </a:solidFill>
                          <a:latin typeface="Segoe UI"/>
                        </a:defRPr>
                      </a:pPr>
                      <a:r>
                        <a:t>Aviso del rechazo con el motivo obligatorio expresado por el autorizador. Se reintegran los días en trámite al saldo.</a:t>
                      </a:r>
                    </a:p>
                  </a:txBody>
                  <a:tcPr>
                    <a:solidFill>
                      <a:srgbClr val="F8FAFC"/>
                    </a:solidFill>
                  </a:tcPr>
                </a:tc>
                <a:tc>
                  <a:txBody>
                    <a:bodyPr tIns="73152"/>
                    <a:lstStyle/>
                    <a:p>
                      <a:pPr>
                        <a:defRPr sz="850">
                          <a:solidFill>
                            <a:srgbClr val="1E293B"/>
                          </a:solidFill>
                          <a:latin typeface="Segoe UI"/>
                        </a:defRPr>
                      </a:pPr>
                      <a:r>
                        <a:t>Estado Rechazada (Sello de trámite cancelado)</a:t>
                      </a:r>
                    </a:p>
                  </a:txBody>
                  <a:tcPr>
                    <a:solidFill>
                      <a:srgbClr val="F8FAF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8655" cy="822960"/>
          </a:xfrm>
          <a:prstGeom prst="rect">
            <a:avLst/>
          </a:prstGeom>
          <a:noFill/>
        </p:spPr>
        <p:txBody>
          <a:bodyPr wrap="square" lIns="0" tIns="0" rIns="0" bIns="0">
            <a:spAutoFit/>
          </a:bodyPr>
          <a:lstStyle/>
          <a:p>
            <a:pPr>
              <a:defRPr sz="1000" b="1">
                <a:solidFill>
                  <a:srgbClr val="1D4ED8"/>
                </a:solidFill>
                <a:latin typeface="Segoe UI"/>
              </a:defRPr>
            </a:pPr>
            <a:r>
              <a:t>MÓDULO 4 • REGULACIÓN Y FORMATO</a:t>
            </a:r>
          </a:p>
          <a:p>
            <a:pPr>
              <a:defRPr sz="2000" b="1">
                <a:solidFill>
                  <a:srgbClr val="002D62"/>
                </a:solidFill>
                <a:latin typeface="Segoe UI"/>
              </a:defRPr>
            </a:pPr>
            <a:r>
              <a:t>Cumplimiento Normativo LFT y Formato Oficial FDO-84</a:t>
            </a:r>
          </a:p>
        </p:txBody>
      </p:sp>
      <p:sp>
        <p:nvSpPr>
          <p:cNvPr id="3" name="Rounded Rectangle 2"/>
          <p:cNvSpPr/>
          <p:nvPr/>
        </p:nvSpPr>
        <p:spPr>
          <a:xfrm>
            <a:off x="731520" y="1371600"/>
            <a:ext cx="5120640" cy="4937760"/>
          </a:xfrm>
          <a:prstGeom prst="roundRect">
            <a:avLst/>
          </a:prstGeom>
          <a:solidFill>
            <a:srgbClr val="F8FAFC"/>
          </a:solidFill>
          <a:ln w="19050">
            <a:solidFill>
              <a:srgbClr val="002D6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1300">
                <a:solidFill>
                  <a:srgbClr val="002D62"/>
                </a:solidFill>
              </a:defRPr>
            </a:pPr>
            <a:r>
              <a:t>Marco Normativo LFT (Reforma Vacaciones Dignas)</a:t>
            </a:r>
          </a:p>
          <a:p>
            <a:pPr>
              <a:spcBef>
                <a:spcPts val="800"/>
              </a:spcBef>
              <a:defRPr b="1" sz="1000">
                <a:solidFill>
                  <a:srgbClr val="1D4ED8"/>
                </a:solidFill>
              </a:defRPr>
            </a:pPr>
            <a:r>
              <a:t>Artículo 76 LFT:</a:t>
            </a:r>
          </a:p>
          <a:p>
            <a:pPr>
              <a:defRPr sz="900">
                <a:solidFill>
                  <a:srgbClr val="1E293B"/>
                </a:solidFill>
              </a:defRPr>
            </a:pPr>
            <a:r>
              <a:t>Período anual pagado que no puede ser menor a 12 días laborables en el año 1, aumentando 2 días por año subsiguiente hasta llegar a 20 días (año 5), y luego 2 días más cada 5 años.</a:t>
            </a:r>
          </a:p>
          <a:p>
            <a:pPr>
              <a:spcBef>
                <a:spcPts val="800"/>
              </a:spcBef>
              <a:defRPr b="1" sz="1000">
                <a:solidFill>
                  <a:srgbClr val="1D4ED8"/>
                </a:solidFill>
              </a:defRPr>
            </a:pPr>
            <a:r>
              <a:t>Días Hábiles:</a:t>
            </a:r>
          </a:p>
          <a:p>
            <a:pPr>
              <a:defRPr sz="900">
                <a:solidFill>
                  <a:srgbClr val="1E293B"/>
                </a:solidFill>
              </a:defRPr>
            </a:pPr>
            <a:r>
              <a:t>Cómputo exclusivo de días laborables según jornada (Lunes a Sábado), deduciendo de manera automática descansos obligatorios (domingos) y días festivos oficiales.</a:t>
            </a:r>
          </a:p>
          <a:p>
            <a:pPr>
              <a:spcBef>
                <a:spcPts val="800"/>
              </a:spcBef>
              <a:defRPr b="1" sz="1000">
                <a:solidFill>
                  <a:srgbClr val="1D4ED8"/>
                </a:solidFill>
              </a:defRPr>
            </a:pPr>
            <a:r>
              <a:t>Modelo PEPS:</a:t>
            </a:r>
          </a:p>
          <a:p>
            <a:pPr>
              <a:defRPr sz="900">
                <a:solidFill>
                  <a:srgbClr val="1E293B"/>
                </a:solidFill>
              </a:defRPr>
            </a:pPr>
            <a:r>
              <a:t>Primeras Entradas, Primeras Salidas: se descuentan primero los días del período más antiguo para garantizar que el colaborador no sufra prescripción de derechos.</a:t>
            </a:r>
          </a:p>
          <a:p>
            <a:pPr>
              <a:spcBef>
                <a:spcPts val="800"/>
              </a:spcBef>
              <a:defRPr b="1" sz="1000">
                <a:solidFill>
                  <a:srgbClr val="1D4ED8"/>
                </a:solidFill>
              </a:defRPr>
            </a:pPr>
            <a:r>
              <a:t>Fecha de Reincorporación:</a:t>
            </a:r>
          </a:p>
          <a:p>
            <a:pPr>
              <a:defRPr sz="900">
                <a:solidFill>
                  <a:srgbClr val="1E293B"/>
                </a:solidFill>
              </a:defRPr>
            </a:pPr>
            <a:r>
              <a:t>Cálculo matemático exacto del primer día hábil posterior al período vacacional, notificando al colaborador y a su jefatura para la continuidad operativa.</a:t>
            </a:r>
          </a:p>
        </p:txBody>
      </p:sp>
      <p:sp>
        <p:nvSpPr>
          <p:cNvPr id="4" name="Rounded Rectangle 3"/>
          <p:cNvSpPr/>
          <p:nvPr/>
        </p:nvSpPr>
        <p:spPr>
          <a:xfrm>
            <a:off x="6217920" y="1371600"/>
            <a:ext cx="5242255" cy="4937760"/>
          </a:xfrm>
          <a:prstGeom prst="roundRect">
            <a:avLst/>
          </a:prstGeom>
          <a:solidFill>
            <a:srgbClr val="F8FAFC"/>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b="1" sz="1300">
                <a:solidFill>
                  <a:srgbClr val="059669"/>
                </a:solidFill>
              </a:defRPr>
            </a:pPr>
            <a:r>
              <a:t>Estructura Oficial del Formato FDO-84 (PDF)</a:t>
            </a:r>
          </a:p>
          <a:p>
            <a:pPr>
              <a:spcBef>
                <a:spcPts val="800"/>
              </a:spcBef>
              <a:defRPr b="1" sz="1000">
                <a:solidFill>
                  <a:srgbClr val="059669"/>
                </a:solidFill>
              </a:defRPr>
            </a:pPr>
            <a:r>
              <a:t>Sección 1 • Datos del Trabajador:</a:t>
            </a:r>
          </a:p>
          <a:p>
            <a:pPr>
              <a:defRPr sz="900">
                <a:solidFill>
                  <a:srgbClr val="1E293B"/>
                </a:solidFill>
              </a:defRPr>
            </a:pPr>
            <a:r>
              <a:t>Nombre completo (Apellidos, Nombres), código de nómina, puesto, empresa, planta y sucursal según catálogo multi-empresa.</a:t>
            </a:r>
          </a:p>
          <a:p>
            <a:pPr>
              <a:spcBef>
                <a:spcPts val="800"/>
              </a:spcBef>
              <a:defRPr b="1" sz="1000">
                <a:solidFill>
                  <a:srgbClr val="059669"/>
                </a:solidFill>
              </a:defRPr>
            </a:pPr>
            <a:r>
              <a:t>Sección 2 • Ejercicio y Saldos LFT:</a:t>
            </a:r>
          </a:p>
          <a:p>
            <a:pPr>
              <a:defRPr sz="900">
                <a:solidFill>
                  <a:srgbClr val="1E293B"/>
                </a:solidFill>
              </a:defRPr>
            </a:pPr>
            <a:r>
              <a:t>Antigüedad exacta, ejercicio vigente, días por ley, días gozados, días a disfrutar solicitados y nuevo saldo remanente.</a:t>
            </a:r>
          </a:p>
          <a:p>
            <a:pPr>
              <a:spcBef>
                <a:spcPts val="800"/>
              </a:spcBef>
              <a:defRPr b="1" sz="1000">
                <a:solidFill>
                  <a:srgbClr val="059669"/>
                </a:solidFill>
              </a:defRPr>
            </a:pPr>
            <a:r>
              <a:t>Sección 3 • Período Programado:</a:t>
            </a:r>
          </a:p>
          <a:p>
            <a:pPr>
              <a:defRPr sz="900">
                <a:solidFill>
                  <a:srgbClr val="1E293B"/>
                </a:solidFill>
              </a:defRPr>
            </a:pPr>
            <a:r>
              <a:t>Fechas DESDE y HASTA desglosadas por casillas individuales, total de días hábiles y fecha oficial destacada de reincorporación a labores.</a:t>
            </a:r>
          </a:p>
          <a:p>
            <a:pPr>
              <a:spcBef>
                <a:spcPts val="800"/>
              </a:spcBef>
              <a:defRPr b="1" sz="1000">
                <a:solidFill>
                  <a:srgbClr val="059669"/>
                </a:solidFill>
              </a:defRPr>
            </a:pPr>
            <a:r>
              <a:t>Sección 4 • Decisiones de Autorización:</a:t>
            </a:r>
          </a:p>
          <a:p>
            <a:pPr>
              <a:defRPr sz="900">
                <a:solidFill>
                  <a:srgbClr val="1E293B"/>
                </a:solidFill>
              </a:defRPr>
            </a:pPr>
            <a:r>
              <a:t>3 o 4 columnas institucionales independientes con sellos hash SHA-256:</a:t>
            </a:r>
            <a:br/>
            <a:r>
              <a:t> 1. Solicitado por Trabajador</a:t>
            </a:r>
            <a:br/>
            <a:r>
              <a:t> 2. Autorizado por Jefatura (Líder Directo)</a:t>
            </a:r>
            <a:br/>
            <a:r>
              <a:t> 3. Gerente de Sucursal (si aplica)</a:t>
            </a:r>
            <a:br/>
            <a:r>
              <a:t> 4. Validado en Nómina (Desarrollo Organizacional)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